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1" r:id="rId2"/>
    <p:sldMasterId id="2147483654" r:id="rId3"/>
    <p:sldMasterId id="2147483657" r:id="rId4"/>
  </p:sldMasterIdLst>
  <p:notesMasterIdLst>
    <p:notesMasterId r:id="rId14"/>
  </p:notesMasterIdLst>
  <p:sldIdLst>
    <p:sldId id="256" r:id="rId5"/>
    <p:sldId id="257" r:id="rId6"/>
    <p:sldId id="258" r:id="rId7"/>
    <p:sldId id="259" r:id="rId8"/>
    <p:sldId id="260" r:id="rId9"/>
    <p:sldId id="261" r:id="rId10"/>
    <p:sldId id="262" r:id="rId11"/>
    <p:sldId id="263" r:id="rId12"/>
    <p:sldId id="264" r:id="rId13"/>
  </p:sldIdLst>
  <p:sldSz cx="12192000" cy="6858000"/>
  <p:notesSz cx="6858000" cy="12192000"/>
  <p:embeddedFontLst>
    <p:embeddedFont>
      <p:font typeface="DM Sans SemiBold" panose="020B0604020202020204" charset="0"/>
      <p:regular r:id="rId15"/>
      <p:bold r:id="rId16"/>
      <p:italic r:id="rId17"/>
      <p:boldItalic r:id="rId18"/>
    </p:embeddedFont>
    <p:embeddedFont>
      <p:font typeface="Inter" panose="020B0604020202020204" charset="0"/>
      <p:regular r:id="rId19"/>
      <p:bold r:id="rId20"/>
      <p:italic r:id="rId21"/>
      <p:boldItalic r:id="rId22"/>
    </p:embeddedFont>
    <p:embeddedFont>
      <p:font typeface="Inter Medium" panose="020B060402020202020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gMqoqcsZLgvN5Ol8lIYNtRwNYsL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Master" Target="slideMasters/slideMaster3.xml"/><Relationship Id="rId21" Type="http://schemas.openxmlformats.org/officeDocument/2006/relationships/font" Target="fonts/font7.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font" Target="fonts/font6.fntdata"/><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0.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6.xml"/><Relationship Id="rId19" Type="http://schemas.openxmlformats.org/officeDocument/2006/relationships/font" Target="fonts/font5.fntdata"/><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font" Target="fonts/font8.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 name="Google Shape;36;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7" name="Google Shape;37;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 name="Google Shape;51;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2" name="Google Shape;52;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 name="Google Shape;67;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8" name="Google Shape;68;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 name="Google Shape;79;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0" name="Google Shape;80;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 name="Google Shape;93;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94" name="Google Shape;94;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 name="Google Shape;109;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10" name="Google Shape;110;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5" name="Google Shape;125;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26" name="Google Shape;126;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1" name="Google Shape;141;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42" name="Google Shape;142;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5" name="Google Shape;155;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56" name="Google Shape;156;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master 1">
  <p:cSld name="Slide master 1">
    <p:bg>
      <p:bgPr>
        <a:solidFill>
          <a:srgbClr val="000000"/>
        </a:solidFill>
        <a:effectLst/>
      </p:bgPr>
    </p:bg>
    <p:spTree>
      <p:nvGrpSpPr>
        <p:cNvPr id="1" name="Shape 7"/>
        <p:cNvGrpSpPr/>
        <p:nvPr/>
      </p:nvGrpSpPr>
      <p:grpSpPr>
        <a:xfrm>
          <a:off x="0" y="0"/>
          <a:ext cx="0" cy="0"/>
          <a:chOff x="0" y="0"/>
          <a:chExt cx="0" cy="0"/>
        </a:xfrm>
      </p:grpSpPr>
      <p:sp>
        <p:nvSpPr>
          <p:cNvPr id="8" name="Google Shape;8;p11"/>
          <p:cNvSpPr/>
          <p:nvPr/>
        </p:nvSpPr>
        <p:spPr>
          <a:xfrm>
            <a:off x="0" y="0"/>
            <a:ext cx="12191695" cy="6858000"/>
          </a:xfrm>
          <a:prstGeom prst="rect">
            <a:avLst/>
          </a:prstGeom>
          <a:solidFill>
            <a:srgbClr val="F5F5F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Inter"/>
              <a:ea typeface="Inter"/>
              <a:cs typeface="Inter"/>
              <a:sym typeface="Inter"/>
            </a:endParaRPr>
          </a:p>
        </p:txBody>
      </p:sp>
      <p:sp>
        <p:nvSpPr>
          <p:cNvPr id="9" name="Google Shape;9;p11"/>
          <p:cNvSpPr/>
          <p:nvPr/>
        </p:nvSpPr>
        <p:spPr>
          <a:xfrm>
            <a:off x="0" y="0"/>
            <a:ext cx="12191695" cy="68580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Inter"/>
              <a:ea typeface="Inter"/>
              <a:cs typeface="Inter"/>
              <a:sym typeface="Inter"/>
            </a:endParaRPr>
          </a:p>
        </p:txBody>
      </p:sp>
      <p:sp>
        <p:nvSpPr>
          <p:cNvPr id="10" name="Google Shape;10;p11"/>
          <p:cNvSpPr/>
          <p:nvPr/>
        </p:nvSpPr>
        <p:spPr>
          <a:xfrm>
            <a:off x="0" y="0"/>
            <a:ext cx="76200" cy="6858000"/>
          </a:xfrm>
          <a:prstGeom prst="rect">
            <a:avLst/>
          </a:prstGeom>
          <a:solidFill>
            <a:srgbClr val="1F6F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Inter"/>
              <a:ea typeface="Inter"/>
              <a:cs typeface="Inter"/>
              <a:sym typeface="Inte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1"/>
        <p:cNvGrpSpPr/>
        <p:nvPr/>
      </p:nvGrpSpPr>
      <p:grpSpPr>
        <a:xfrm>
          <a:off x="0" y="0"/>
          <a:ext cx="0" cy="0"/>
          <a:chOff x="0" y="0"/>
          <a:chExt cx="0" cy="0"/>
        </a:xfrm>
      </p:grpSpPr>
      <p:sp>
        <p:nvSpPr>
          <p:cNvPr id="12" name="Google Shape;12;p15"/>
          <p:cNvSpPr/>
          <p:nvPr/>
        </p:nvSpPr>
        <p:spPr>
          <a:xfrm>
            <a:off x="0" y="0"/>
            <a:ext cx="76200" cy="6858000"/>
          </a:xfrm>
          <a:prstGeom prst="rect">
            <a:avLst/>
          </a:prstGeom>
          <a:solidFill>
            <a:srgbClr val="1F6F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Inter"/>
              <a:ea typeface="Inter"/>
              <a:cs typeface="Inter"/>
              <a:sym typeface="Inte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master 1">
  <p:cSld name="Slide master 1">
    <p:bg>
      <p:bgPr>
        <a:solidFill>
          <a:srgbClr val="000000"/>
        </a:solidFill>
        <a:effectLst/>
      </p:bgPr>
    </p:bg>
    <p:spTree>
      <p:nvGrpSpPr>
        <p:cNvPr id="1" name="Shape 14"/>
        <p:cNvGrpSpPr/>
        <p:nvPr/>
      </p:nvGrpSpPr>
      <p:grpSpPr>
        <a:xfrm>
          <a:off x="0" y="0"/>
          <a:ext cx="0" cy="0"/>
          <a:chOff x="0" y="0"/>
          <a:chExt cx="0" cy="0"/>
        </a:xfrm>
      </p:grpSpPr>
      <p:sp>
        <p:nvSpPr>
          <p:cNvPr id="15" name="Google Shape;15;p13"/>
          <p:cNvSpPr/>
          <p:nvPr/>
        </p:nvSpPr>
        <p:spPr>
          <a:xfrm>
            <a:off x="0" y="0"/>
            <a:ext cx="12191695" cy="6858000"/>
          </a:xfrm>
          <a:prstGeom prst="rect">
            <a:avLst/>
          </a:prstGeom>
          <a:solidFill>
            <a:srgbClr val="F5F5F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6;p13"/>
          <p:cNvSpPr/>
          <p:nvPr/>
        </p:nvSpPr>
        <p:spPr>
          <a:xfrm>
            <a:off x="0" y="0"/>
            <a:ext cx="12191695" cy="68580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0"/>
        <p:cNvGrpSpPr/>
        <p:nvPr/>
      </p:nvGrpSpPr>
      <p:grpSpPr>
        <a:xfrm>
          <a:off x="0" y="0"/>
          <a:ext cx="0" cy="0"/>
          <a:chOff x="0" y="0"/>
          <a:chExt cx="0" cy="0"/>
        </a:xfrm>
      </p:grpSpPr>
      <p:sp>
        <p:nvSpPr>
          <p:cNvPr id="21" name="Google Shape;21;p17"/>
          <p:cNvSpPr/>
          <p:nvPr/>
        </p:nvSpPr>
        <p:spPr>
          <a:xfrm>
            <a:off x="0" y="0"/>
            <a:ext cx="76200" cy="6858000"/>
          </a:xfrm>
          <a:prstGeom prst="rect">
            <a:avLst/>
          </a:prstGeom>
          <a:solidFill>
            <a:srgbClr val="1F6F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Inter"/>
              <a:ea typeface="Inter"/>
              <a:cs typeface="Inter"/>
              <a:sym typeface="Inte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master 1">
  <p:cSld name="Slide master 1">
    <p:bg>
      <p:bgPr>
        <a:solidFill>
          <a:srgbClr val="000000"/>
        </a:solidFill>
        <a:effectLst/>
      </p:bgPr>
    </p:bg>
    <p:spTree>
      <p:nvGrpSpPr>
        <p:cNvPr id="1" name="Shape 22"/>
        <p:cNvGrpSpPr/>
        <p:nvPr/>
      </p:nvGrpSpPr>
      <p:grpSpPr>
        <a:xfrm>
          <a:off x="0" y="0"/>
          <a:ext cx="0" cy="0"/>
          <a:chOff x="0" y="0"/>
          <a:chExt cx="0" cy="0"/>
        </a:xfrm>
      </p:grpSpPr>
      <p:sp>
        <p:nvSpPr>
          <p:cNvPr id="23" name="Google Shape;23;p18"/>
          <p:cNvSpPr/>
          <p:nvPr/>
        </p:nvSpPr>
        <p:spPr>
          <a:xfrm>
            <a:off x="0" y="0"/>
            <a:ext cx="12191695" cy="6858000"/>
          </a:xfrm>
          <a:prstGeom prst="rect">
            <a:avLst/>
          </a:pr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18"/>
          <p:cNvSpPr/>
          <p:nvPr/>
        </p:nvSpPr>
        <p:spPr>
          <a:xfrm>
            <a:off x="0" y="0"/>
            <a:ext cx="12191695" cy="685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18"/>
          <p:cNvSpPr/>
          <p:nvPr/>
        </p:nvSpPr>
        <p:spPr>
          <a:xfrm>
            <a:off x="0" y="0"/>
            <a:ext cx="76200" cy="6858000"/>
          </a:xfrm>
          <a:prstGeom prst="rect">
            <a:avLst/>
          </a:prstGeom>
          <a:solidFill>
            <a:srgbClr val="1F6F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Inter"/>
              <a:ea typeface="Inter"/>
              <a:cs typeface="Inter"/>
              <a:sym typeface="Inte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
        <p:nvSpPr>
          <p:cNvPr id="29" name="Google Shape;29;p20"/>
          <p:cNvSpPr/>
          <p:nvPr/>
        </p:nvSpPr>
        <p:spPr>
          <a:xfrm>
            <a:off x="0" y="0"/>
            <a:ext cx="76200" cy="6858000"/>
          </a:xfrm>
          <a:prstGeom prst="rect">
            <a:avLst/>
          </a:prstGeom>
          <a:solidFill>
            <a:srgbClr val="1F6F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Inter"/>
              <a:ea typeface="Inter"/>
              <a:cs typeface="Inter"/>
              <a:sym typeface="Inte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master 1">
  <p:cSld name="Slide master 1">
    <p:bg>
      <p:bgPr>
        <a:solidFill>
          <a:srgbClr val="000000"/>
        </a:solidFill>
        <a:effectLst/>
      </p:bgPr>
    </p:bg>
    <p:spTree>
      <p:nvGrpSpPr>
        <p:cNvPr id="1" name="Shape 30"/>
        <p:cNvGrpSpPr/>
        <p:nvPr/>
      </p:nvGrpSpPr>
      <p:grpSpPr>
        <a:xfrm>
          <a:off x="0" y="0"/>
          <a:ext cx="0" cy="0"/>
          <a:chOff x="0" y="0"/>
          <a:chExt cx="0" cy="0"/>
        </a:xfrm>
      </p:grpSpPr>
      <p:sp>
        <p:nvSpPr>
          <p:cNvPr id="31" name="Google Shape;31;p21"/>
          <p:cNvSpPr/>
          <p:nvPr/>
        </p:nvSpPr>
        <p:spPr>
          <a:xfrm>
            <a:off x="0" y="0"/>
            <a:ext cx="12191695" cy="6858000"/>
          </a:xfrm>
          <a:prstGeom prst="rect">
            <a:avLst/>
          </a:pr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1"/>
          <p:cNvSpPr/>
          <p:nvPr/>
        </p:nvSpPr>
        <p:spPr>
          <a:xfrm>
            <a:off x="0" y="0"/>
            <a:ext cx="12191695" cy="685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1"/>
          <p:cNvSpPr/>
          <p:nvPr/>
        </p:nvSpPr>
        <p:spPr>
          <a:xfrm>
            <a:off x="0" y="0"/>
            <a:ext cx="76200" cy="6858000"/>
          </a:xfrm>
          <a:prstGeom prst="rect">
            <a:avLst/>
          </a:prstGeom>
          <a:solidFill>
            <a:srgbClr val="1F6F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Inter"/>
              <a:ea typeface="Inter"/>
              <a:cs typeface="Inter"/>
              <a:sym typeface="Inter"/>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0"/>
          <p:cNvSpPr/>
          <p:nvPr/>
        </p:nvSpPr>
        <p:spPr>
          <a:xfrm>
            <a:off x="0" y="0"/>
            <a:ext cx="76200" cy="6858000"/>
          </a:xfrm>
          <a:prstGeom prst="rect">
            <a:avLst/>
          </a:prstGeom>
          <a:solidFill>
            <a:srgbClr val="1F6F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Inter"/>
              <a:ea typeface="Inter"/>
              <a:cs typeface="Inter"/>
              <a:sym typeface="Inte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2" r:id="rId1"/>
    <p:sldLayoutId id="2147483653"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
        <p:cNvGrpSpPr/>
        <p:nvPr/>
      </p:nvGrpSpPr>
      <p:grpSpPr>
        <a:xfrm>
          <a:off x="0" y="0"/>
          <a:ext cx="0" cy="0"/>
          <a:chOff x="0" y="0"/>
          <a:chExt cx="0" cy="0"/>
        </a:xfrm>
      </p:grpSpPr>
      <p:sp>
        <p:nvSpPr>
          <p:cNvPr id="19" name="Google Shape;19;p16"/>
          <p:cNvSpPr/>
          <p:nvPr/>
        </p:nvSpPr>
        <p:spPr>
          <a:xfrm>
            <a:off x="0" y="0"/>
            <a:ext cx="76200" cy="6858000"/>
          </a:xfrm>
          <a:prstGeom prst="rect">
            <a:avLst/>
          </a:prstGeom>
          <a:solidFill>
            <a:srgbClr val="1F6F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Inter"/>
              <a:ea typeface="Inter"/>
              <a:cs typeface="Inter"/>
              <a:sym typeface="Inter"/>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
        <p:cNvGrpSpPr/>
        <p:nvPr/>
      </p:nvGrpSpPr>
      <p:grpSpPr>
        <a:xfrm>
          <a:off x="0" y="0"/>
          <a:ext cx="0" cy="0"/>
          <a:chOff x="0" y="0"/>
          <a:chExt cx="0" cy="0"/>
        </a:xfrm>
      </p:grpSpPr>
      <p:sp>
        <p:nvSpPr>
          <p:cNvPr id="27" name="Google Shape;27;p19"/>
          <p:cNvSpPr/>
          <p:nvPr/>
        </p:nvSpPr>
        <p:spPr>
          <a:xfrm>
            <a:off x="0" y="0"/>
            <a:ext cx="76200" cy="6858000"/>
          </a:xfrm>
          <a:prstGeom prst="rect">
            <a:avLst/>
          </a:prstGeom>
          <a:solidFill>
            <a:srgbClr val="1F6F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Inter"/>
              <a:ea typeface="Inter"/>
              <a:cs typeface="Inter"/>
              <a:sym typeface="Inter"/>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hyperlink" Target="https://drive.google.com/file/d/1PlFGTkSzl84DR7QTI7j7opQPV7Hq6e96/view" TargetMode="Externa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Pranav-Mahesh-Palled/MediLink_AI"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hyperlink" Target="https://drive.google.com/file/d/1PlFGTkSzl84DR7QTI7j7opQPV7Hq6e96/view" TargetMode="External"/><Relationship Id="rId4" Type="http://schemas.openxmlformats.org/officeDocument/2006/relationships/hyperlink" Target="https://medilink-ai-vph5.onrender.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1"/>
          <p:cNvSpPr/>
          <p:nvPr/>
        </p:nvSpPr>
        <p:spPr>
          <a:xfrm>
            <a:off x="4399845" y="527745"/>
            <a:ext cx="3391907" cy="318691"/>
          </a:xfrm>
          <a:prstGeom prst="roundRect">
            <a:avLst>
              <a:gd name="adj" fmla="val 6561"/>
            </a:avLst>
          </a:prstGeom>
          <a:noFill/>
          <a:ln>
            <a:noFill/>
          </a:ln>
          <a:effectLst>
            <a:outerShdw blurRad="101600" dist="50800" dir="16200000" algn="bl" rotWithShape="0">
              <a:srgbClr val="1F6FEB"/>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r>
              <a:rPr sz="1400" b="1">
                <a:solidFill>
                  <a:srgbClr val="5A5A5A"/>
                </a:solidFill>
                <a:latin typeface="Aptos"/>
              </a:rPr>
              <a:t>POWERED BY TCOE INDIA</a:t>
            </a:r>
            <a:endParaRPr sz="1800">
              <a:solidFill>
                <a:schemeClr val="dk1"/>
              </a:solidFill>
              <a:latin typeface="Inter"/>
              <a:ea typeface="Inter"/>
              <a:cs typeface="Inter"/>
              <a:sym typeface="Inter"/>
            </a:endParaRPr>
          </a:p>
        </p:txBody>
      </p:sp>
      <p:sp>
        <p:nvSpPr>
          <p:cNvPr id="40" name="Google Shape;40;p1"/>
          <p:cNvSpPr/>
          <p:nvPr/>
        </p:nvSpPr>
        <p:spPr>
          <a:xfrm>
            <a:off x="4270282" y="2639361"/>
            <a:ext cx="3792600" cy="214200"/>
          </a:xfrm>
          <a:prstGeom prst="rect">
            <a:avLst/>
          </a:prstGeom>
          <a:noFill/>
          <a:ln>
            <a:noFill/>
          </a:ln>
        </p:spPr>
        <p:txBody>
          <a:bodyPr spcFirstLastPara="1" wrap="square" lIns="0" tIns="0" rIns="0" bIns="0" anchor="t" anchorCtr="0">
            <a:noAutofit/>
          </a:bodyPr>
          <a:lstStyle/>
          <a:p>
            <a:pPr marL="0" marR="0" lvl="0" indent="0" algn="ctr" rtl="0">
              <a:lnSpc>
                <a:spcPct val="128000"/>
              </a:lnSpc>
              <a:spcBef>
                <a:spcPts val="0"/>
              </a:spcBef>
              <a:spcAft>
                <a:spcPts val="0"/>
              </a:spcAft>
              <a:buClr>
                <a:srgbClr val="1F6FEB"/>
              </a:buClr>
              <a:buSzPts val="1050"/>
              <a:buFont typeface="Inter Medium"/>
              <a:buNone/>
            </a:pPr>
            <a:r>
              <a:rPr sz="2600" b="1">
                <a:solidFill>
                  <a:srgbClr val="0E2C54"/>
                </a:solidFill>
                <a:latin typeface="Aptos"/>
              </a:rPr>
              <a:t>Emerging Technologies</a:t>
            </a:r>
            <a:endParaRPr sz="1050">
              <a:solidFill>
                <a:schemeClr val="dk1"/>
              </a:solidFill>
              <a:latin typeface="Inter"/>
              <a:ea typeface="Inter"/>
              <a:cs typeface="Inter"/>
              <a:sym typeface="Inter"/>
            </a:endParaRPr>
          </a:p>
        </p:txBody>
      </p:sp>
      <p:sp>
        <p:nvSpPr>
          <p:cNvPr id="41" name="Google Shape;41;p1"/>
          <p:cNvSpPr/>
          <p:nvPr/>
        </p:nvSpPr>
        <p:spPr>
          <a:xfrm>
            <a:off x="975494" y="910630"/>
            <a:ext cx="10240706" cy="1089025"/>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1F6FEB"/>
              </a:buClr>
              <a:buSzPts val="6850"/>
              <a:buFont typeface="DM Sans SemiBold"/>
              <a:buNone/>
            </a:pPr>
            <a:r>
              <a:rPr sz="3400" b="1">
                <a:solidFill>
                  <a:srgbClr val="0E2C54"/>
                </a:solidFill>
                <a:latin typeface="Aptos"/>
              </a:rPr>
              <a:t>Hackathon 2026</a:t>
            </a:r>
            <a:endParaRPr sz="6850">
              <a:solidFill>
                <a:schemeClr val="dk1"/>
              </a:solidFill>
              <a:latin typeface="Inter"/>
              <a:ea typeface="Inter"/>
              <a:cs typeface="Inter"/>
              <a:sym typeface="Inter"/>
            </a:endParaRPr>
          </a:p>
        </p:txBody>
      </p:sp>
      <p:sp>
        <p:nvSpPr>
          <p:cNvPr id="42" name="Google Shape;42;p1"/>
          <p:cNvSpPr/>
          <p:nvPr/>
        </p:nvSpPr>
        <p:spPr>
          <a:xfrm>
            <a:off x="2785199" y="1887853"/>
            <a:ext cx="6621300" cy="7515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14213D"/>
              </a:buClr>
              <a:buSzPts val="4700"/>
              <a:buFont typeface="DM Sans SemiBold"/>
              <a:buNone/>
            </a:pPr>
            <a:r>
              <a:rPr sz="2400" b="0">
                <a:solidFill>
                  <a:srgbClr val="282828"/>
                </a:solidFill>
                <a:latin typeface="Aptos"/>
              </a:rPr>
              <a:t>Project Submission Template</a:t>
            </a:r>
            <a:endParaRPr sz="4700">
              <a:solidFill>
                <a:schemeClr val="dk1"/>
              </a:solidFill>
              <a:latin typeface="Inter"/>
              <a:ea typeface="Inter"/>
              <a:cs typeface="Inter"/>
              <a:sym typeface="Inter"/>
            </a:endParaRPr>
          </a:p>
        </p:txBody>
      </p:sp>
      <p:sp>
        <p:nvSpPr>
          <p:cNvPr id="43" name="Google Shape;43;p1"/>
          <p:cNvSpPr/>
          <p:nvPr/>
        </p:nvSpPr>
        <p:spPr>
          <a:xfrm>
            <a:off x="356682" y="2990251"/>
            <a:ext cx="11478330" cy="334764"/>
          </a:xfrm>
          <a:prstGeom prst="rect">
            <a:avLst/>
          </a:prstGeom>
          <a:noFill/>
          <a:ln>
            <a:noFill/>
          </a:ln>
        </p:spPr>
        <p:txBody>
          <a:bodyPr spcFirstLastPara="1" wrap="square" lIns="0" tIns="0" rIns="0" bIns="0" anchor="t" anchorCtr="0">
            <a:noAutofit/>
          </a:bodyPr>
          <a:lstStyle/>
          <a:p>
            <a:pPr marL="0" marR="0" lvl="0" indent="0" algn="l" rtl="0">
              <a:lnSpc>
                <a:spcPct val="128000"/>
              </a:lnSpc>
              <a:spcBef>
                <a:spcPts val="0"/>
              </a:spcBef>
              <a:spcAft>
                <a:spcPts val="0"/>
              </a:spcAft>
              <a:buClr>
                <a:srgbClr val="4A5568"/>
              </a:buClr>
              <a:buSzPts val="1700"/>
              <a:buFont typeface="Inter Medium"/>
              <a:buNone/>
            </a:pPr>
            <a:r>
              <a:rPr sz="2400" b="1">
                <a:solidFill>
                  <a:srgbClr val="000000"/>
                </a:solidFill>
                <a:latin typeface="Aptos"/>
              </a:rPr>
              <a:t>MediLink AI</a:t>
            </a:r>
            <a:endParaRPr sz="1700">
              <a:solidFill>
                <a:schemeClr val="dk1"/>
              </a:solidFill>
              <a:latin typeface="Inter"/>
              <a:ea typeface="Inter"/>
              <a:cs typeface="Inter"/>
              <a:sym typeface="Inter"/>
            </a:endParaRPr>
          </a:p>
        </p:txBody>
      </p:sp>
      <p:sp>
        <p:nvSpPr>
          <p:cNvPr id="44" name="Google Shape;44;p1"/>
          <p:cNvSpPr/>
          <p:nvPr/>
        </p:nvSpPr>
        <p:spPr>
          <a:xfrm>
            <a:off x="661475" y="3791843"/>
            <a:ext cx="10868745" cy="19050"/>
          </a:xfrm>
          <a:prstGeom prst="roundRect">
            <a:avLst>
              <a:gd name="adj" fmla="val 59999"/>
            </a:avLst>
          </a:prstGeom>
          <a:solidFill>
            <a:srgbClr val="4A5568">
              <a:alpha val="50196"/>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Inter"/>
              <a:ea typeface="Inter"/>
              <a:cs typeface="Inter"/>
              <a:sym typeface="Inter"/>
            </a:endParaRPr>
          </a:p>
        </p:txBody>
      </p:sp>
      <p:sp>
        <p:nvSpPr>
          <p:cNvPr id="45" name="Google Shape;45;p1"/>
          <p:cNvSpPr/>
          <p:nvPr/>
        </p:nvSpPr>
        <p:spPr>
          <a:xfrm>
            <a:off x="661475" y="4035127"/>
            <a:ext cx="10868745" cy="1613198"/>
          </a:xfrm>
          <a:prstGeom prst="rect">
            <a:avLst/>
          </a:prstGeom>
          <a:noFill/>
          <a:ln>
            <a:noFill/>
          </a:ln>
        </p:spPr>
        <p:txBody>
          <a:bodyPr spcFirstLastPara="1" wrap="square" lIns="0" tIns="0" rIns="0" bIns="0" anchor="t" anchorCtr="0">
            <a:noAutofit/>
          </a:bodyPr>
          <a:lstStyle/>
          <a:p>
            <a:pPr marL="0" marR="0" lvl="0" indent="0" algn="l" rtl="0">
              <a:lnSpc>
                <a:spcPct val="128000"/>
              </a:lnSpc>
              <a:spcBef>
                <a:spcPts val="0"/>
              </a:spcBef>
              <a:spcAft>
                <a:spcPts val="0"/>
              </a:spcAft>
              <a:buClr>
                <a:srgbClr val="4A5568"/>
              </a:buClr>
              <a:buSzPts val="1350"/>
              <a:buFont typeface="Inter"/>
              <a:buNone/>
            </a:pPr>
            <a:r>
              <a:rPr sz="2000" b="0" dirty="0" err="1">
                <a:solidFill>
                  <a:srgbClr val="1E1E1E"/>
                </a:solidFill>
                <a:latin typeface="Aptos"/>
              </a:rPr>
              <a:t>MediLink</a:t>
            </a:r>
            <a:r>
              <a:rPr sz="2000" b="0" dirty="0">
                <a:solidFill>
                  <a:srgbClr val="1E1E1E"/>
                </a:solidFill>
                <a:latin typeface="Aptos"/>
              </a:rPr>
              <a:t> AI — AI-assisted connected ambulance system for rapid triage, routing and emergency coordination.</a:t>
            </a:r>
            <a:endParaRPr sz="1350" dirty="0">
              <a:solidFill>
                <a:schemeClr val="dk1"/>
              </a:solidFill>
              <a:latin typeface="Inter"/>
              <a:ea typeface="Inter"/>
              <a:cs typeface="Inter"/>
              <a:sym typeface="Inter"/>
            </a:endParaRPr>
          </a:p>
        </p:txBody>
      </p:sp>
      <p:sp>
        <p:nvSpPr>
          <p:cNvPr id="46" name="Google Shape;46;p1"/>
          <p:cNvSpPr/>
          <p:nvPr/>
        </p:nvSpPr>
        <p:spPr>
          <a:xfrm>
            <a:off x="661475" y="5872559"/>
            <a:ext cx="10868745" cy="19050"/>
          </a:xfrm>
          <a:prstGeom prst="roundRect">
            <a:avLst>
              <a:gd name="adj" fmla="val 59999"/>
            </a:avLst>
          </a:prstGeom>
          <a:solidFill>
            <a:srgbClr val="4A5568">
              <a:alpha val="50196"/>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Inter"/>
              <a:ea typeface="Inter"/>
              <a:cs typeface="Inter"/>
              <a:sym typeface="Inter"/>
            </a:endParaRPr>
          </a:p>
        </p:txBody>
      </p:sp>
      <p:pic>
        <p:nvPicPr>
          <p:cNvPr id="47" name="Google Shape;47;p1"/>
          <p:cNvPicPr preferRelativeResize="0"/>
          <p:nvPr/>
        </p:nvPicPr>
        <p:blipFill rotWithShape="1">
          <a:blip r:embed="rId3">
            <a:alphaModFix/>
          </a:blip>
          <a:srcRect/>
          <a:stretch/>
        </p:blipFill>
        <p:spPr>
          <a:xfrm>
            <a:off x="11447711" y="14398"/>
            <a:ext cx="730096" cy="794247"/>
          </a:xfrm>
          <a:prstGeom prst="rect">
            <a:avLst/>
          </a:prstGeom>
          <a:noFill/>
          <a:ln>
            <a:noFill/>
          </a:ln>
        </p:spPr>
      </p:pic>
      <p:pic>
        <p:nvPicPr>
          <p:cNvPr id="48" name="Google Shape;48;p1" title="WhatsApp_Image_2026-07-08_at_1.09.13_PM-removebg-preview.png"/>
          <p:cNvPicPr preferRelativeResize="0"/>
          <p:nvPr/>
        </p:nvPicPr>
        <p:blipFill>
          <a:blip r:embed="rId4">
            <a:alphaModFix/>
          </a:blip>
          <a:stretch>
            <a:fillRect/>
          </a:stretch>
        </p:blipFill>
        <p:spPr>
          <a:xfrm>
            <a:off x="87650" y="14400"/>
            <a:ext cx="1939599" cy="1185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2"/>
          <p:cNvSpPr/>
          <p:nvPr/>
        </p:nvSpPr>
        <p:spPr>
          <a:xfrm>
            <a:off x="661475" y="881459"/>
            <a:ext cx="4330790" cy="465138"/>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2900"/>
              <a:buFont typeface="DM Sans SemiBold"/>
              <a:buNone/>
            </a:pPr>
            <a:r>
              <a:rPr sz="2800" b="1">
                <a:solidFill>
                  <a:srgbClr val="0E2C54"/>
                </a:solidFill>
                <a:latin typeface="Aptos"/>
              </a:rPr>
              <a:t>About the Team</a:t>
            </a:r>
            <a:endParaRPr sz="2900">
              <a:solidFill>
                <a:schemeClr val="dk1"/>
              </a:solidFill>
              <a:latin typeface="Calibri"/>
              <a:ea typeface="Calibri"/>
              <a:cs typeface="Calibri"/>
              <a:sym typeface="Calibri"/>
            </a:endParaRPr>
          </a:p>
        </p:txBody>
      </p:sp>
      <p:sp>
        <p:nvSpPr>
          <p:cNvPr id="55" name="Google Shape;55;p2"/>
          <p:cNvSpPr/>
          <p:nvPr/>
        </p:nvSpPr>
        <p:spPr>
          <a:xfrm>
            <a:off x="661475" y="1522413"/>
            <a:ext cx="11478330" cy="212824"/>
          </a:xfrm>
          <a:prstGeom prst="rect">
            <a:avLst/>
          </a:prstGeom>
          <a:noFill/>
          <a:ln>
            <a:noFill/>
          </a:ln>
        </p:spPr>
        <p:txBody>
          <a:bodyPr spcFirstLastPara="1" wrap="square" lIns="0" tIns="0" rIns="0" bIns="0" anchor="t" anchorCtr="0">
            <a:noAutofit/>
          </a:bodyPr>
          <a:lstStyle/>
          <a:p>
            <a:pPr marL="0" marR="0" lvl="0" indent="0" algn="l" rtl="0">
              <a:lnSpc>
                <a:spcPct val="119000"/>
              </a:lnSpc>
              <a:spcBef>
                <a:spcPts val="0"/>
              </a:spcBef>
              <a:spcAft>
                <a:spcPts val="0"/>
              </a:spcAft>
              <a:buClr>
                <a:srgbClr val="4A5568"/>
              </a:buClr>
              <a:buSzPts val="1150"/>
              <a:buFont typeface="Inter Medium"/>
              <a:buNone/>
            </a:pPr>
            <a:r>
              <a:rPr sz="1400" b="0">
                <a:solidFill>
                  <a:srgbClr val="464646"/>
                </a:solidFill>
                <a:latin typeface="Aptos"/>
              </a:rPr>
              <a:t>Solo submission focused on clarity of presentation, strong problem framing, and a demo-ready AI solution.</a:t>
            </a:r>
            <a:endParaRPr sz="1150">
              <a:solidFill>
                <a:schemeClr val="dk1"/>
              </a:solidFill>
              <a:latin typeface="Calibri"/>
              <a:ea typeface="Calibri"/>
              <a:cs typeface="Calibri"/>
              <a:sym typeface="Calibri"/>
            </a:endParaRPr>
          </a:p>
        </p:txBody>
      </p:sp>
      <p:sp>
        <p:nvSpPr>
          <p:cNvPr id="56" name="Google Shape;56;p2"/>
          <p:cNvSpPr/>
          <p:nvPr/>
        </p:nvSpPr>
        <p:spPr>
          <a:xfrm>
            <a:off x="661475" y="1911052"/>
            <a:ext cx="2696698" cy="23247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450"/>
              <a:buFont typeface="DM Sans SemiBold"/>
              <a:buNone/>
            </a:pPr>
            <a:r>
              <a:rPr sz="1600" b="1">
                <a:solidFill>
                  <a:srgbClr val="000000"/>
                </a:solidFill>
                <a:latin typeface="Aptos"/>
              </a:rPr>
              <a:t>Team / Individual Name</a:t>
            </a:r>
            <a:endParaRPr sz="1450">
              <a:solidFill>
                <a:schemeClr val="dk1"/>
              </a:solidFill>
              <a:latin typeface="Calibri"/>
              <a:ea typeface="Calibri"/>
              <a:cs typeface="Calibri"/>
              <a:sym typeface="Calibri"/>
            </a:endParaRPr>
          </a:p>
        </p:txBody>
      </p:sp>
      <p:sp>
        <p:nvSpPr>
          <p:cNvPr id="57" name="Google Shape;57;p2"/>
          <p:cNvSpPr/>
          <p:nvPr/>
        </p:nvSpPr>
        <p:spPr>
          <a:xfrm>
            <a:off x="661475" y="2319337"/>
            <a:ext cx="11478330" cy="212824"/>
          </a:xfrm>
          <a:prstGeom prst="rect">
            <a:avLst/>
          </a:prstGeom>
          <a:noFill/>
          <a:ln>
            <a:noFill/>
          </a:ln>
        </p:spPr>
        <p:txBody>
          <a:bodyPr spcFirstLastPara="1" wrap="square" lIns="0" tIns="0" rIns="0" bIns="0" anchor="t" anchorCtr="0">
            <a:noAutofit/>
          </a:bodyPr>
          <a:lstStyle/>
          <a:p>
            <a:pPr marL="0" marR="0" lvl="0" indent="0" algn="l" rtl="0">
              <a:lnSpc>
                <a:spcPct val="119000"/>
              </a:lnSpc>
              <a:spcBef>
                <a:spcPts val="0"/>
              </a:spcBef>
              <a:spcAft>
                <a:spcPts val="0"/>
              </a:spcAft>
              <a:buClr>
                <a:srgbClr val="4A5568"/>
              </a:buClr>
              <a:buSzPts val="1150"/>
              <a:buFont typeface="Inter Medium"/>
              <a:buNone/>
            </a:pPr>
            <a:r>
              <a:rPr sz="1600" b="0">
                <a:solidFill>
                  <a:srgbClr val="1E1E1E"/>
                </a:solidFill>
                <a:latin typeface="Aptos"/>
              </a:rPr>
              <a:t>Pranav Mahesh Palled</a:t>
            </a:r>
            <a:endParaRPr sz="1150">
              <a:solidFill>
                <a:schemeClr val="dk1"/>
              </a:solidFill>
              <a:latin typeface="Calibri"/>
              <a:ea typeface="Calibri"/>
              <a:cs typeface="Calibri"/>
              <a:sym typeface="Calibri"/>
            </a:endParaRPr>
          </a:p>
        </p:txBody>
      </p:sp>
      <p:sp>
        <p:nvSpPr>
          <p:cNvPr id="58" name="Google Shape;58;p2"/>
          <p:cNvSpPr/>
          <p:nvPr/>
        </p:nvSpPr>
        <p:spPr>
          <a:xfrm>
            <a:off x="661475" y="2707977"/>
            <a:ext cx="2686082" cy="23247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450"/>
              <a:buFont typeface="DM Sans SemiBold"/>
              <a:buNone/>
            </a:pPr>
            <a:r>
              <a:rPr sz="1600" b="1">
                <a:solidFill>
                  <a:srgbClr val="000000"/>
                </a:solidFill>
                <a:latin typeface="Aptos"/>
              </a:rPr>
              <a:t>Institute / Organisation</a:t>
            </a:r>
            <a:endParaRPr sz="1450">
              <a:solidFill>
                <a:schemeClr val="dk1"/>
              </a:solidFill>
              <a:latin typeface="Calibri"/>
              <a:ea typeface="Calibri"/>
              <a:cs typeface="Calibri"/>
              <a:sym typeface="Calibri"/>
            </a:endParaRPr>
          </a:p>
        </p:txBody>
      </p:sp>
      <p:sp>
        <p:nvSpPr>
          <p:cNvPr id="59" name="Google Shape;59;p2"/>
          <p:cNvSpPr/>
          <p:nvPr/>
        </p:nvSpPr>
        <p:spPr>
          <a:xfrm>
            <a:off x="661475" y="3116263"/>
            <a:ext cx="11478330" cy="212824"/>
          </a:xfrm>
          <a:prstGeom prst="rect">
            <a:avLst/>
          </a:prstGeom>
          <a:noFill/>
          <a:ln>
            <a:noFill/>
          </a:ln>
        </p:spPr>
        <p:txBody>
          <a:bodyPr spcFirstLastPara="1" wrap="square" lIns="0" tIns="0" rIns="0" bIns="0" anchor="t" anchorCtr="0">
            <a:noAutofit/>
          </a:bodyPr>
          <a:lstStyle/>
          <a:p>
            <a:pPr marL="0" marR="0" lvl="0" indent="0" algn="l" rtl="0">
              <a:lnSpc>
                <a:spcPct val="119000"/>
              </a:lnSpc>
              <a:spcBef>
                <a:spcPts val="0"/>
              </a:spcBef>
              <a:spcAft>
                <a:spcPts val="0"/>
              </a:spcAft>
              <a:buClr>
                <a:srgbClr val="4A5568"/>
              </a:buClr>
              <a:buSzPts val="1150"/>
              <a:buFont typeface="Inter Medium"/>
              <a:buNone/>
            </a:pPr>
            <a:r>
              <a:rPr sz="1600" b="0">
                <a:solidFill>
                  <a:srgbClr val="1E1E1E"/>
                </a:solidFill>
                <a:latin typeface="Aptos"/>
              </a:rPr>
              <a:t>KLS Gogte Institute of Technology</a:t>
            </a:r>
            <a:endParaRPr sz="1150">
              <a:solidFill>
                <a:schemeClr val="dk1"/>
              </a:solidFill>
              <a:latin typeface="Calibri"/>
              <a:ea typeface="Calibri"/>
              <a:cs typeface="Calibri"/>
              <a:sym typeface="Calibri"/>
            </a:endParaRPr>
          </a:p>
        </p:txBody>
      </p:sp>
      <p:sp>
        <p:nvSpPr>
          <p:cNvPr id="60" name="Google Shape;60;p2"/>
          <p:cNvSpPr/>
          <p:nvPr/>
        </p:nvSpPr>
        <p:spPr>
          <a:xfrm>
            <a:off x="661475" y="3504902"/>
            <a:ext cx="2470187" cy="23247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450"/>
              <a:buFont typeface="DM Sans SemiBold"/>
              <a:buNone/>
            </a:pPr>
            <a:r>
              <a:rPr sz="1600" b="1">
                <a:solidFill>
                  <a:srgbClr val="000000"/>
                </a:solidFill>
                <a:latin typeface="Aptos"/>
              </a:rPr>
              <a:t>Technology Vertical</a:t>
            </a:r>
            <a:endParaRPr sz="1450">
              <a:solidFill>
                <a:schemeClr val="dk1"/>
              </a:solidFill>
              <a:latin typeface="Calibri"/>
              <a:ea typeface="Calibri"/>
              <a:cs typeface="Calibri"/>
              <a:sym typeface="Calibri"/>
            </a:endParaRPr>
          </a:p>
        </p:txBody>
      </p:sp>
      <p:sp>
        <p:nvSpPr>
          <p:cNvPr id="61" name="Google Shape;61;p2"/>
          <p:cNvSpPr/>
          <p:nvPr/>
        </p:nvSpPr>
        <p:spPr>
          <a:xfrm>
            <a:off x="661475" y="3913188"/>
            <a:ext cx="10868745" cy="557510"/>
          </a:xfrm>
          <a:prstGeom prst="rect">
            <a:avLst/>
          </a:prstGeom>
          <a:noFill/>
          <a:ln>
            <a:noFill/>
          </a:ln>
        </p:spPr>
        <p:txBody>
          <a:bodyPr spcFirstLastPara="1" wrap="square" lIns="0" tIns="0" rIns="0" bIns="0" anchor="t" anchorCtr="0">
            <a:noAutofit/>
          </a:bodyPr>
          <a:lstStyle/>
          <a:p>
            <a:pPr marL="0" marR="0" lvl="0" indent="0" algn="l" rtl="0">
              <a:lnSpc>
                <a:spcPct val="119000"/>
              </a:lnSpc>
              <a:spcBef>
                <a:spcPts val="0"/>
              </a:spcBef>
              <a:spcAft>
                <a:spcPts val="0"/>
              </a:spcAft>
              <a:buClr>
                <a:srgbClr val="4A5568"/>
              </a:buClr>
              <a:buSzPts val="1150"/>
              <a:buFont typeface="Inter Medium"/>
              <a:buNone/>
            </a:pPr>
            <a:r>
              <a:rPr sz="1600" b="0">
                <a:solidFill>
                  <a:srgbClr val="1E1E1E"/>
                </a:solidFill>
                <a:latin typeface="Aptos"/>
              </a:rPr>
              <a:t>AI + Communication Tech / HealthTech</a:t>
            </a:r>
            <a:endParaRPr sz="1150">
              <a:solidFill>
                <a:schemeClr val="dk1"/>
              </a:solidFill>
              <a:latin typeface="Calibri"/>
              <a:ea typeface="Calibri"/>
              <a:cs typeface="Calibri"/>
              <a:sym typeface="Calibri"/>
            </a:endParaRPr>
          </a:p>
        </p:txBody>
      </p:sp>
      <p:sp>
        <p:nvSpPr>
          <p:cNvPr id="62" name="Google Shape;62;p2"/>
          <p:cNvSpPr/>
          <p:nvPr/>
        </p:nvSpPr>
        <p:spPr>
          <a:xfrm>
            <a:off x="661475" y="4646513"/>
            <a:ext cx="3385061" cy="23247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450"/>
              <a:buFont typeface="DM Sans SemiBold"/>
              <a:buNone/>
            </a:pPr>
            <a:r>
              <a:rPr sz="1600" b="1">
                <a:solidFill>
                  <a:srgbClr val="000000"/>
                </a:solidFill>
                <a:latin typeface="Aptos"/>
              </a:rPr>
              <a:t>Team Members (1–5, with Role, Experience and Expertise)</a:t>
            </a:r>
            <a:endParaRPr/>
          </a:p>
        </p:txBody>
      </p:sp>
      <p:sp>
        <p:nvSpPr>
          <p:cNvPr id="63" name="Google Shape;63;p2"/>
          <p:cNvSpPr/>
          <p:nvPr/>
        </p:nvSpPr>
        <p:spPr>
          <a:xfrm>
            <a:off x="661475" y="5212114"/>
            <a:ext cx="10868745" cy="1228030"/>
          </a:xfrm>
          <a:prstGeom prst="rect">
            <a:avLst/>
          </a:prstGeom>
          <a:noFill/>
          <a:ln>
            <a:noFill/>
          </a:ln>
        </p:spPr>
        <p:txBody>
          <a:bodyPr spcFirstLastPara="1" wrap="square" lIns="0" tIns="0" rIns="0" bIns="0" anchor="t" anchorCtr="0">
            <a:normAutofit/>
          </a:bodyPr>
          <a:lstStyle/>
          <a:p>
            <a:pPr marL="233680" marR="0" lvl="0" indent="-233680" algn="l" rtl="0">
              <a:lnSpc>
                <a:spcPct val="119000"/>
              </a:lnSpc>
              <a:spcBef>
                <a:spcPts val="0"/>
              </a:spcBef>
              <a:spcAft>
                <a:spcPts val="0"/>
              </a:spcAft>
              <a:buClr>
                <a:srgbClr val="4A5568"/>
              </a:buClr>
              <a:buSzPts val="1150"/>
              <a:buFont typeface="Calibri"/>
              <a:buAutoNum type="arabicPeriod"/>
            </a:pPr>
            <a:r>
              <a:rPr sz="1500" b="0" dirty="0">
                <a:solidFill>
                  <a:srgbClr val="1E1E1E"/>
                </a:solidFill>
                <a:latin typeface="Aptos"/>
              </a:rPr>
              <a:t>Pranav Mahesh Palled — Full-stack builder, AI workflow design, front-end development, hackathon presentation, and deployment coordination.</a:t>
            </a:r>
            <a:endParaRPr sz="1150" dirty="0">
              <a:solidFill>
                <a:schemeClr val="dk1"/>
              </a:solidFill>
              <a:latin typeface="Calibri"/>
              <a:ea typeface="Calibri"/>
              <a:cs typeface="Calibri"/>
              <a:sym typeface="Calibri"/>
            </a:endParaRPr>
          </a:p>
        </p:txBody>
      </p:sp>
      <p:sp>
        <p:nvSpPr>
          <p:cNvPr id="64" name="Google Shape;64;p2"/>
          <p:cNvSpPr/>
          <p:nvPr/>
        </p:nvSpPr>
        <p:spPr>
          <a:xfrm>
            <a:off x="0" y="0"/>
            <a:ext cx="76200" cy="6858000"/>
          </a:xfrm>
          <a:prstGeom prst="rect">
            <a:avLst/>
          </a:prstGeom>
          <a:solidFill>
            <a:srgbClr val="1F6F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3"/>
          <p:cNvSpPr/>
          <p:nvPr/>
        </p:nvSpPr>
        <p:spPr>
          <a:xfrm>
            <a:off x="661475" y="936030"/>
            <a:ext cx="6904758" cy="502047"/>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3150"/>
              <a:buFont typeface="DM Sans SemiBold"/>
              <a:buNone/>
            </a:pPr>
            <a:r>
              <a:rPr sz="2800" b="1">
                <a:solidFill>
                  <a:srgbClr val="0E2C54"/>
                </a:solidFill>
                <a:latin typeface="Aptos"/>
              </a:rPr>
              <a:t>Problem Statement &amp; Innovation</a:t>
            </a:r>
            <a:endParaRPr sz="3150">
              <a:solidFill>
                <a:schemeClr val="dk1"/>
              </a:solidFill>
              <a:latin typeface="Calibri"/>
              <a:ea typeface="Calibri"/>
              <a:cs typeface="Calibri"/>
              <a:sym typeface="Calibri"/>
            </a:endParaRPr>
          </a:p>
        </p:txBody>
      </p:sp>
      <p:sp>
        <p:nvSpPr>
          <p:cNvPr id="71" name="Google Shape;71;p3"/>
          <p:cNvSpPr/>
          <p:nvPr/>
        </p:nvSpPr>
        <p:spPr>
          <a:xfrm>
            <a:off x="661475" y="1642864"/>
            <a:ext cx="11478330" cy="237728"/>
          </a:xfrm>
          <a:prstGeom prst="rect">
            <a:avLst/>
          </a:prstGeom>
          <a:noFill/>
          <a:ln>
            <a:noFill/>
          </a:ln>
        </p:spPr>
        <p:txBody>
          <a:bodyPr spcFirstLastPara="1" wrap="square" lIns="0" tIns="0" rIns="0" bIns="0" anchor="t" anchorCtr="0">
            <a:noAutofit/>
          </a:bodyPr>
          <a:lstStyle/>
          <a:p>
            <a:pPr marL="0" marR="0" lvl="0" indent="0" algn="l" rtl="0">
              <a:lnSpc>
                <a:spcPct val="123000"/>
              </a:lnSpc>
              <a:spcBef>
                <a:spcPts val="0"/>
              </a:spcBef>
              <a:spcAft>
                <a:spcPts val="0"/>
              </a:spcAft>
              <a:buClr>
                <a:srgbClr val="4A5568"/>
              </a:buClr>
              <a:buSzPts val="1250"/>
              <a:buFont typeface="Inter Medium"/>
              <a:buNone/>
            </a:pPr>
            <a:r>
              <a:rPr sz="1400" b="0">
                <a:solidFill>
                  <a:srgbClr val="464646"/>
                </a:solidFill>
                <a:latin typeface="Aptos"/>
              </a:rPr>
              <a:t>Focused on a single, high-impact emergency response problem where AI and telecom can reduce delay.</a:t>
            </a:r>
            <a:endParaRPr sz="1250">
              <a:solidFill>
                <a:schemeClr val="dk1"/>
              </a:solidFill>
              <a:latin typeface="Calibri"/>
              <a:ea typeface="Calibri"/>
              <a:cs typeface="Calibri"/>
              <a:sym typeface="Calibri"/>
            </a:endParaRPr>
          </a:p>
        </p:txBody>
      </p:sp>
      <p:sp>
        <p:nvSpPr>
          <p:cNvPr id="72" name="Google Shape;72;p3"/>
          <p:cNvSpPr/>
          <p:nvPr/>
        </p:nvSpPr>
        <p:spPr>
          <a:xfrm>
            <a:off x="661475" y="2085380"/>
            <a:ext cx="2617821" cy="25102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550"/>
              <a:buFont typeface="DM Sans SemiBold"/>
              <a:buNone/>
            </a:pPr>
            <a:r>
              <a:rPr sz="1800" b="1">
                <a:solidFill>
                  <a:srgbClr val="000000"/>
                </a:solidFill>
                <a:latin typeface="Aptos"/>
              </a:rPr>
              <a:t>Problem Statement</a:t>
            </a:r>
            <a:endParaRPr sz="1550">
              <a:solidFill>
                <a:schemeClr val="dk1"/>
              </a:solidFill>
              <a:latin typeface="Calibri"/>
              <a:ea typeface="Calibri"/>
              <a:cs typeface="Calibri"/>
              <a:sym typeface="Calibri"/>
            </a:endParaRPr>
          </a:p>
        </p:txBody>
      </p:sp>
      <p:sp>
        <p:nvSpPr>
          <p:cNvPr id="73" name="Google Shape;73;p3"/>
          <p:cNvSpPr/>
          <p:nvPr/>
        </p:nvSpPr>
        <p:spPr>
          <a:xfrm>
            <a:off x="661475" y="2541191"/>
            <a:ext cx="10868745" cy="1649413"/>
          </a:xfrm>
          <a:prstGeom prst="rect">
            <a:avLst/>
          </a:prstGeom>
          <a:noFill/>
          <a:ln>
            <a:noFill/>
          </a:ln>
        </p:spPr>
        <p:txBody>
          <a:bodyPr spcFirstLastPara="1" wrap="square" lIns="0" tIns="0" rIns="0" bIns="0" anchor="t" anchorCtr="0">
            <a:normAutofit/>
          </a:bodyPr>
          <a:lstStyle/>
          <a:p>
            <a:pPr marL="0" marR="0" lvl="0" indent="0" algn="l" rtl="0">
              <a:lnSpc>
                <a:spcPct val="123000"/>
              </a:lnSpc>
              <a:spcBef>
                <a:spcPts val="0"/>
              </a:spcBef>
              <a:spcAft>
                <a:spcPts val="0"/>
              </a:spcAft>
              <a:buClr>
                <a:srgbClr val="4A5568"/>
              </a:buClr>
              <a:buSzPts val="1250"/>
              <a:buFont typeface="Inter Medium"/>
              <a:buNone/>
            </a:pPr>
            <a:r>
              <a:rPr sz="1500" b="0">
                <a:solidFill>
                  <a:srgbClr val="1E1E1E"/>
                </a:solidFill>
                <a:latin typeface="Aptos"/>
              </a:rPr>
              <a:t>Emergency response is slowed when a caller cannot clearly explain symptoms, ambulances are dispatched without structured triage, and hospitals do not receive the right patient context early enough. This leads to avoidable delay, poor routing, and fragmented communication during the most critical minutes.</a:t>
            </a:r>
            <a:endParaRPr sz="1250">
              <a:solidFill>
                <a:schemeClr val="dk1"/>
              </a:solidFill>
              <a:latin typeface="Calibri"/>
              <a:ea typeface="Calibri"/>
              <a:cs typeface="Calibri"/>
              <a:sym typeface="Calibri"/>
            </a:endParaRPr>
          </a:p>
        </p:txBody>
      </p:sp>
      <p:sp>
        <p:nvSpPr>
          <p:cNvPr id="74" name="Google Shape;74;p3"/>
          <p:cNvSpPr/>
          <p:nvPr/>
        </p:nvSpPr>
        <p:spPr>
          <a:xfrm>
            <a:off x="661475" y="4395391"/>
            <a:ext cx="3163312" cy="25102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550"/>
              <a:buFont typeface="DM Sans SemiBold"/>
              <a:buNone/>
            </a:pPr>
            <a:r>
              <a:rPr sz="1800" b="1">
                <a:solidFill>
                  <a:srgbClr val="000000"/>
                </a:solidFill>
                <a:latin typeface="Aptos"/>
              </a:rPr>
              <a:t>Your Solution &amp; Its Novelty</a:t>
            </a:r>
            <a:endParaRPr sz="1550">
              <a:solidFill>
                <a:schemeClr val="dk1"/>
              </a:solidFill>
              <a:latin typeface="Calibri"/>
              <a:ea typeface="Calibri"/>
              <a:cs typeface="Calibri"/>
              <a:sym typeface="Calibri"/>
            </a:endParaRPr>
          </a:p>
        </p:txBody>
      </p:sp>
      <p:sp>
        <p:nvSpPr>
          <p:cNvPr id="75" name="Google Shape;75;p3"/>
          <p:cNvSpPr/>
          <p:nvPr/>
        </p:nvSpPr>
        <p:spPr>
          <a:xfrm>
            <a:off x="661475" y="4851202"/>
            <a:ext cx="10868745" cy="1411684"/>
          </a:xfrm>
          <a:prstGeom prst="rect">
            <a:avLst/>
          </a:prstGeom>
          <a:noFill/>
          <a:ln>
            <a:noFill/>
          </a:ln>
        </p:spPr>
        <p:txBody>
          <a:bodyPr spcFirstLastPara="1" wrap="square" lIns="0" tIns="0" rIns="0" bIns="0" anchor="t" anchorCtr="0">
            <a:noAutofit/>
          </a:bodyPr>
          <a:lstStyle/>
          <a:p>
            <a:pPr marL="0" marR="0" lvl="0" indent="0" algn="l" rtl="0">
              <a:lnSpc>
                <a:spcPct val="123000"/>
              </a:lnSpc>
              <a:spcBef>
                <a:spcPts val="0"/>
              </a:spcBef>
              <a:spcAft>
                <a:spcPts val="0"/>
              </a:spcAft>
              <a:buClr>
                <a:srgbClr val="4A5568"/>
              </a:buClr>
              <a:buSzPts val="1250"/>
              <a:buFont typeface="Inter Medium"/>
              <a:buNone/>
            </a:pPr>
            <a:r>
              <a:rPr sz="1500" b="0">
                <a:solidFill>
                  <a:srgbClr val="1E1E1E"/>
                </a:solidFill>
                <a:latin typeface="Aptos"/>
              </a:rPr>
              <a:t>MediLink AI combines symptom-based AI triage, nearest-appropriate hospital recommendation, live location sharing, and emergency status updates in one mobile-first flow. The novelty is the end-to-end coordination layer: one input creates a structured case, prioritises urgency, prepares the hospital, and supports the ambulance team with a clean dashboard.</a:t>
            </a:r>
            <a:endParaRPr sz="1250">
              <a:solidFill>
                <a:schemeClr val="dk1"/>
              </a:solidFill>
              <a:latin typeface="Calibri"/>
              <a:ea typeface="Calibri"/>
              <a:cs typeface="Calibri"/>
              <a:sym typeface="Calibri"/>
            </a:endParaRPr>
          </a:p>
        </p:txBody>
      </p:sp>
      <p:sp>
        <p:nvSpPr>
          <p:cNvPr id="76" name="Google Shape;76;p3"/>
          <p:cNvSpPr/>
          <p:nvPr/>
        </p:nvSpPr>
        <p:spPr>
          <a:xfrm>
            <a:off x="0" y="0"/>
            <a:ext cx="76200" cy="6858000"/>
          </a:xfrm>
          <a:prstGeom prst="rect">
            <a:avLst/>
          </a:prstGeom>
          <a:solidFill>
            <a:srgbClr val="1F6F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4"/>
          <p:cNvSpPr/>
          <p:nvPr/>
        </p:nvSpPr>
        <p:spPr>
          <a:xfrm>
            <a:off x="661475" y="811709"/>
            <a:ext cx="7927777" cy="383977"/>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2400"/>
              <a:buFont typeface="DM Sans SemiBold"/>
              <a:buNone/>
            </a:pPr>
            <a:r>
              <a:rPr sz="2600" b="1" dirty="0">
                <a:solidFill>
                  <a:srgbClr val="0E2C54"/>
                </a:solidFill>
                <a:latin typeface="Aptos"/>
              </a:rPr>
              <a:t>Technical Feasibility &amp; Implementation Readiness</a:t>
            </a:r>
            <a:endParaRPr sz="2400" dirty="0">
              <a:solidFill>
                <a:schemeClr val="dk1"/>
              </a:solidFill>
              <a:latin typeface="Calibri"/>
              <a:ea typeface="Calibri"/>
              <a:cs typeface="Calibri"/>
              <a:sym typeface="Calibri"/>
            </a:endParaRPr>
          </a:p>
        </p:txBody>
      </p:sp>
      <p:sp>
        <p:nvSpPr>
          <p:cNvPr id="83" name="Google Shape;83;p4"/>
          <p:cNvSpPr/>
          <p:nvPr/>
        </p:nvSpPr>
        <p:spPr>
          <a:xfrm>
            <a:off x="661475" y="1315442"/>
            <a:ext cx="11478330" cy="162123"/>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4A5568"/>
              </a:buClr>
              <a:buSzPts val="950"/>
              <a:buFont typeface="Inter Medium"/>
              <a:buNone/>
            </a:pPr>
            <a:r>
              <a:rPr sz="1400" b="0">
                <a:solidFill>
                  <a:srgbClr val="464646"/>
                </a:solidFill>
                <a:latin typeface="Aptos"/>
              </a:rPr>
              <a:t>Designed as a practical MVP that is easy to demo, easy to deploy, and ready to extend.</a:t>
            </a:r>
            <a:endParaRPr sz="950">
              <a:solidFill>
                <a:schemeClr val="dk1"/>
              </a:solidFill>
              <a:latin typeface="Calibri"/>
              <a:ea typeface="Calibri"/>
              <a:cs typeface="Calibri"/>
              <a:sym typeface="Calibri"/>
            </a:endParaRPr>
          </a:p>
        </p:txBody>
      </p:sp>
      <p:sp>
        <p:nvSpPr>
          <p:cNvPr id="84" name="Google Shape;84;p4"/>
          <p:cNvSpPr/>
          <p:nvPr/>
        </p:nvSpPr>
        <p:spPr>
          <a:xfrm>
            <a:off x="661475" y="1597323"/>
            <a:ext cx="2799479" cy="23038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200"/>
              <a:buFont typeface="DM Sans SemiBold"/>
              <a:buNone/>
            </a:pPr>
            <a:r>
              <a:rPr sz="1800" b="1" dirty="0">
                <a:solidFill>
                  <a:srgbClr val="000000"/>
                </a:solidFill>
                <a:latin typeface="Aptos"/>
              </a:rPr>
              <a:t>Architecture &amp;</a:t>
            </a:r>
            <a:r>
              <a:rPr lang="en-IN" sz="1800" b="1" dirty="0">
                <a:latin typeface="Aptos"/>
              </a:rPr>
              <a:t> </a:t>
            </a:r>
            <a:r>
              <a:rPr sz="1800" b="1" dirty="0">
                <a:solidFill>
                  <a:srgbClr val="000000"/>
                </a:solidFill>
                <a:latin typeface="Aptos"/>
              </a:rPr>
              <a:t>Design</a:t>
            </a:r>
            <a:endParaRPr sz="1200" dirty="0">
              <a:solidFill>
                <a:schemeClr val="dk1"/>
              </a:solidFill>
              <a:latin typeface="Calibri"/>
              <a:ea typeface="Calibri"/>
              <a:cs typeface="Calibri"/>
              <a:sym typeface="Calibri"/>
            </a:endParaRPr>
          </a:p>
        </p:txBody>
      </p:sp>
      <p:sp>
        <p:nvSpPr>
          <p:cNvPr id="85" name="Google Shape;85;p4"/>
          <p:cNvSpPr/>
          <p:nvPr/>
        </p:nvSpPr>
        <p:spPr>
          <a:xfrm>
            <a:off x="661475" y="1909068"/>
            <a:ext cx="10868745" cy="1169789"/>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4A5568"/>
              </a:buClr>
              <a:buSzPts val="950"/>
              <a:buFont typeface="Inter Medium"/>
              <a:buNone/>
            </a:pPr>
            <a:r>
              <a:rPr sz="1400" b="0" dirty="0">
                <a:solidFill>
                  <a:srgbClr val="1E1E1E"/>
                </a:solidFill>
                <a:latin typeface="Aptos"/>
              </a:rPr>
              <a:t>1) User reports symptoms through a web/mobile form.
2) AI triage engine assigns urgency, suggests next actions, and tags required department.
3) Dispatch dashboard shows case priority, live location, ETA, and hospital recommendations.
4) Hospital view receives pre-arrival details and can confirm readiness.
The design is modular so the triage model, maps layer, and communication layer can evolve independently.</a:t>
            </a:r>
            <a:endParaRPr sz="950" dirty="0">
              <a:solidFill>
                <a:schemeClr val="dk1"/>
              </a:solidFill>
              <a:latin typeface="Calibri"/>
              <a:ea typeface="Calibri"/>
              <a:cs typeface="Calibri"/>
              <a:sym typeface="Calibri"/>
            </a:endParaRPr>
          </a:p>
        </p:txBody>
      </p:sp>
      <p:sp>
        <p:nvSpPr>
          <p:cNvPr id="86" name="Google Shape;86;p4"/>
          <p:cNvSpPr/>
          <p:nvPr/>
        </p:nvSpPr>
        <p:spPr>
          <a:xfrm>
            <a:off x="661475" y="3198614"/>
            <a:ext cx="2799480" cy="23038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200"/>
              <a:buFont typeface="DM Sans SemiBold"/>
              <a:buNone/>
            </a:pPr>
            <a:r>
              <a:rPr sz="1800" b="1" dirty="0">
                <a:solidFill>
                  <a:srgbClr val="000000"/>
                </a:solidFill>
                <a:latin typeface="Aptos"/>
              </a:rPr>
              <a:t>Implementation Approach</a:t>
            </a:r>
            <a:endParaRPr sz="1200" dirty="0">
              <a:solidFill>
                <a:schemeClr val="dk1"/>
              </a:solidFill>
              <a:latin typeface="Calibri"/>
              <a:ea typeface="Calibri"/>
              <a:cs typeface="Calibri"/>
              <a:sym typeface="Calibri"/>
            </a:endParaRPr>
          </a:p>
        </p:txBody>
      </p:sp>
      <p:sp>
        <p:nvSpPr>
          <p:cNvPr id="87" name="Google Shape;87;p4"/>
          <p:cNvSpPr/>
          <p:nvPr/>
        </p:nvSpPr>
        <p:spPr>
          <a:xfrm>
            <a:off x="661475" y="3510359"/>
            <a:ext cx="10868745" cy="1169789"/>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4A5568"/>
              </a:buClr>
              <a:buSzPts val="950"/>
              <a:buFont typeface="Inter Medium"/>
              <a:buNone/>
            </a:pPr>
            <a:r>
              <a:rPr sz="1400" b="0" dirty="0">
                <a:solidFill>
                  <a:srgbClr val="1E1E1E"/>
                </a:solidFill>
                <a:latin typeface="Aptos"/>
              </a:rPr>
              <a:t>Frontend: React / Next.js-style responsive UI.
Backend: </a:t>
            </a:r>
            <a:r>
              <a:rPr sz="1400" b="0" dirty="0" err="1">
                <a:solidFill>
                  <a:srgbClr val="1E1E1E"/>
                </a:solidFill>
                <a:latin typeface="Aptos"/>
              </a:rPr>
              <a:t>FastAPI</a:t>
            </a:r>
            <a:r>
              <a:rPr sz="1400" b="0" dirty="0">
                <a:solidFill>
                  <a:srgbClr val="1E1E1E"/>
                </a:solidFill>
                <a:latin typeface="Aptos"/>
              </a:rPr>
              <a:t> or Node.js API for case creation, triage, and status updates.
AI: lightweight rules + LLM prompt layer for symptom </a:t>
            </a:r>
            <a:r>
              <a:rPr sz="1400" b="0" dirty="0" err="1">
                <a:solidFill>
                  <a:srgbClr val="1E1E1E"/>
                </a:solidFill>
                <a:latin typeface="Aptos"/>
              </a:rPr>
              <a:t>categorisation</a:t>
            </a:r>
            <a:r>
              <a:rPr sz="1400" b="0" dirty="0">
                <a:solidFill>
                  <a:srgbClr val="1E1E1E"/>
                </a:solidFill>
                <a:latin typeface="Aptos"/>
              </a:rPr>
              <a:t> and urgency scoring.
Data: SQLite/Postgres for cases; mocked hospital list for prototype; maps API for routing.
Deployment: </a:t>
            </a:r>
            <a:r>
              <a:rPr sz="1400" b="0" dirty="0" err="1">
                <a:solidFill>
                  <a:srgbClr val="1E1E1E"/>
                </a:solidFill>
                <a:latin typeface="Aptos"/>
              </a:rPr>
              <a:t>Vercel</a:t>
            </a:r>
            <a:r>
              <a:rPr sz="1400" b="0" dirty="0">
                <a:solidFill>
                  <a:srgbClr val="1E1E1E"/>
                </a:solidFill>
                <a:latin typeface="Aptos"/>
              </a:rPr>
              <a:t>/Render/Railway for a live demo.</a:t>
            </a:r>
            <a:endParaRPr sz="950" dirty="0">
              <a:solidFill>
                <a:schemeClr val="dk1"/>
              </a:solidFill>
              <a:latin typeface="Calibri"/>
              <a:ea typeface="Calibri"/>
              <a:cs typeface="Calibri"/>
              <a:sym typeface="Calibri"/>
            </a:endParaRPr>
          </a:p>
        </p:txBody>
      </p:sp>
      <p:sp>
        <p:nvSpPr>
          <p:cNvPr id="88" name="Google Shape;88;p4"/>
          <p:cNvSpPr/>
          <p:nvPr/>
        </p:nvSpPr>
        <p:spPr>
          <a:xfrm>
            <a:off x="661475" y="4799904"/>
            <a:ext cx="2799479" cy="31174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200"/>
              <a:buFont typeface="DM Sans SemiBold"/>
              <a:buNone/>
            </a:pPr>
            <a:r>
              <a:rPr sz="1800" b="1" dirty="0">
                <a:solidFill>
                  <a:srgbClr val="000000"/>
                </a:solidFill>
                <a:latin typeface="Aptos"/>
              </a:rPr>
              <a:t>Prototype Maturity</a:t>
            </a:r>
            <a:endParaRPr sz="1200" dirty="0">
              <a:solidFill>
                <a:schemeClr val="dk1"/>
              </a:solidFill>
              <a:latin typeface="Calibri"/>
              <a:ea typeface="Calibri"/>
              <a:cs typeface="Calibri"/>
              <a:sym typeface="Calibri"/>
            </a:endParaRPr>
          </a:p>
        </p:txBody>
      </p:sp>
      <p:sp>
        <p:nvSpPr>
          <p:cNvPr id="89" name="Google Shape;89;p4"/>
          <p:cNvSpPr/>
          <p:nvPr/>
        </p:nvSpPr>
        <p:spPr>
          <a:xfrm>
            <a:off x="661475" y="5111651"/>
            <a:ext cx="10868745" cy="1169789"/>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4A5568"/>
              </a:buClr>
              <a:buSzPts val="950"/>
              <a:buFont typeface="Inter Medium"/>
              <a:buNone/>
            </a:pPr>
            <a:r>
              <a:rPr sz="1500" b="0" dirty="0">
                <a:solidFill>
                  <a:srgbClr val="1E1E1E"/>
                </a:solidFill>
                <a:latin typeface="Aptos"/>
              </a:rPr>
              <a:t>TRL 3 - Proof of concept demonstrated with a clear path to a functional prototype and live deployment.</a:t>
            </a:r>
            <a:endParaRPr sz="950" dirty="0">
              <a:solidFill>
                <a:schemeClr val="dk1"/>
              </a:solidFill>
              <a:latin typeface="Calibri"/>
              <a:ea typeface="Calibri"/>
              <a:cs typeface="Calibri"/>
              <a:sym typeface="Calibri"/>
            </a:endParaRPr>
          </a:p>
        </p:txBody>
      </p:sp>
      <p:sp>
        <p:nvSpPr>
          <p:cNvPr id="90" name="Google Shape;90;p4"/>
          <p:cNvSpPr/>
          <p:nvPr/>
        </p:nvSpPr>
        <p:spPr>
          <a:xfrm>
            <a:off x="0" y="0"/>
            <a:ext cx="76200" cy="6858000"/>
          </a:xfrm>
          <a:prstGeom prst="rect">
            <a:avLst/>
          </a:prstGeom>
          <a:solidFill>
            <a:srgbClr val="1F6F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p:nvPr/>
        </p:nvSpPr>
        <p:spPr>
          <a:xfrm>
            <a:off x="661475" y="746224"/>
            <a:ext cx="6800581" cy="36591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2300"/>
              <a:buFont typeface="DM Sans SemiBold"/>
              <a:buNone/>
            </a:pPr>
            <a:r>
              <a:rPr sz="2400" b="1">
                <a:solidFill>
                  <a:srgbClr val="0E2C54"/>
                </a:solidFill>
                <a:latin typeface="Aptos"/>
              </a:rPr>
              <a:t>Market Readiness &amp; Commercialisation Plan</a:t>
            </a:r>
            <a:endParaRPr sz="2300">
              <a:solidFill>
                <a:schemeClr val="dk1"/>
              </a:solidFill>
              <a:latin typeface="Calibri"/>
              <a:ea typeface="Calibri"/>
              <a:cs typeface="Calibri"/>
              <a:sym typeface="Calibri"/>
            </a:endParaRPr>
          </a:p>
        </p:txBody>
      </p:sp>
      <p:sp>
        <p:nvSpPr>
          <p:cNvPr id="97" name="Google Shape;97;p5"/>
          <p:cNvSpPr/>
          <p:nvPr/>
        </p:nvSpPr>
        <p:spPr>
          <a:xfrm>
            <a:off x="661475" y="1220887"/>
            <a:ext cx="11478330" cy="151606"/>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A5568"/>
              </a:buClr>
              <a:buSzPts val="900"/>
              <a:buFont typeface="Inter Medium"/>
              <a:buNone/>
            </a:pPr>
            <a:r>
              <a:rPr sz="1400" b="0" dirty="0">
                <a:solidFill>
                  <a:srgbClr val="464646"/>
                </a:solidFill>
                <a:latin typeface="Aptos"/>
              </a:rPr>
              <a:t>Built for emergency services, hospitals, NGOs, and public health deployments.</a:t>
            </a:r>
            <a:endParaRPr sz="900" dirty="0">
              <a:solidFill>
                <a:schemeClr val="dk1"/>
              </a:solidFill>
              <a:latin typeface="Calibri"/>
              <a:ea typeface="Calibri"/>
              <a:cs typeface="Calibri"/>
              <a:sym typeface="Calibri"/>
            </a:endParaRPr>
          </a:p>
        </p:txBody>
      </p:sp>
      <p:sp>
        <p:nvSpPr>
          <p:cNvPr id="98" name="Google Shape;98;p5"/>
          <p:cNvSpPr/>
          <p:nvPr/>
        </p:nvSpPr>
        <p:spPr>
          <a:xfrm>
            <a:off x="661475" y="1481237"/>
            <a:ext cx="2073322" cy="18286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150"/>
              <a:buFont typeface="DM Sans SemiBold"/>
              <a:buNone/>
            </a:pPr>
            <a:r>
              <a:rPr sz="1800" b="1">
                <a:solidFill>
                  <a:srgbClr val="000000"/>
                </a:solidFill>
                <a:latin typeface="Aptos"/>
              </a:rPr>
              <a:t>Target Market</a:t>
            </a:r>
            <a:endParaRPr sz="1150">
              <a:solidFill>
                <a:schemeClr val="dk1"/>
              </a:solidFill>
              <a:latin typeface="Calibri"/>
              <a:ea typeface="Calibri"/>
              <a:cs typeface="Calibri"/>
              <a:sym typeface="Calibri"/>
            </a:endParaRPr>
          </a:p>
        </p:txBody>
      </p:sp>
      <p:sp>
        <p:nvSpPr>
          <p:cNvPr id="99" name="Google Shape;99;p5"/>
          <p:cNvSpPr/>
          <p:nvPr/>
        </p:nvSpPr>
        <p:spPr>
          <a:xfrm>
            <a:off x="661475" y="1772841"/>
            <a:ext cx="10868745" cy="839589"/>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A5568"/>
              </a:buClr>
              <a:buSzPts val="900"/>
              <a:buFont typeface="Inter Medium"/>
              <a:buNone/>
            </a:pPr>
            <a:r>
              <a:rPr sz="1400" b="0">
                <a:solidFill>
                  <a:srgbClr val="1E1E1E"/>
                </a:solidFill>
                <a:latin typeface="Aptos"/>
              </a:rPr>
              <a:t>Citizens, ambulance operators, emergency helplines, hospitals, district health systems, and public safety agencies.</a:t>
            </a:r>
            <a:endParaRPr sz="900">
              <a:solidFill>
                <a:schemeClr val="dk1"/>
              </a:solidFill>
              <a:latin typeface="Calibri"/>
              <a:ea typeface="Calibri"/>
              <a:cs typeface="Calibri"/>
              <a:sym typeface="Calibri"/>
            </a:endParaRPr>
          </a:p>
        </p:txBody>
      </p:sp>
      <p:sp>
        <p:nvSpPr>
          <p:cNvPr id="100" name="Google Shape;100;p5"/>
          <p:cNvSpPr/>
          <p:nvPr/>
        </p:nvSpPr>
        <p:spPr>
          <a:xfrm>
            <a:off x="661475" y="2721173"/>
            <a:ext cx="2073322" cy="18286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150"/>
              <a:buFont typeface="DM Sans SemiBold"/>
              <a:buNone/>
            </a:pPr>
            <a:r>
              <a:rPr sz="1800" b="1">
                <a:solidFill>
                  <a:srgbClr val="000000"/>
                </a:solidFill>
                <a:latin typeface="Aptos"/>
              </a:rPr>
              <a:t>Industry Alignment</a:t>
            </a:r>
            <a:endParaRPr sz="1150">
              <a:solidFill>
                <a:schemeClr val="dk1"/>
              </a:solidFill>
              <a:latin typeface="Calibri"/>
              <a:ea typeface="Calibri"/>
              <a:cs typeface="Calibri"/>
              <a:sym typeface="Calibri"/>
            </a:endParaRPr>
          </a:p>
        </p:txBody>
      </p:sp>
      <p:sp>
        <p:nvSpPr>
          <p:cNvPr id="101" name="Google Shape;101;p5"/>
          <p:cNvSpPr/>
          <p:nvPr/>
        </p:nvSpPr>
        <p:spPr>
          <a:xfrm>
            <a:off x="661475" y="3012777"/>
            <a:ext cx="10868745" cy="839589"/>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A5568"/>
              </a:buClr>
              <a:buSzPts val="900"/>
              <a:buFont typeface="Inter Medium"/>
              <a:buNone/>
            </a:pPr>
            <a:r>
              <a:rPr sz="1400" b="0">
                <a:solidFill>
                  <a:srgbClr val="1E1E1E"/>
                </a:solidFill>
                <a:latin typeface="Aptos"/>
              </a:rPr>
              <a:t>Supports existing EMS workflows with structured triage, dispatch logging, location sharing, and pre-arrival notifications.</a:t>
            </a:r>
            <a:endParaRPr sz="900">
              <a:solidFill>
                <a:schemeClr val="dk1"/>
              </a:solidFill>
              <a:latin typeface="Calibri"/>
              <a:ea typeface="Calibri"/>
              <a:cs typeface="Calibri"/>
              <a:sym typeface="Calibri"/>
            </a:endParaRPr>
          </a:p>
        </p:txBody>
      </p:sp>
      <p:sp>
        <p:nvSpPr>
          <p:cNvPr id="102" name="Google Shape;102;p5"/>
          <p:cNvSpPr/>
          <p:nvPr/>
        </p:nvSpPr>
        <p:spPr>
          <a:xfrm>
            <a:off x="661475" y="3961109"/>
            <a:ext cx="2396357" cy="29160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150"/>
              <a:buFont typeface="DM Sans SemiBold"/>
              <a:buNone/>
            </a:pPr>
            <a:r>
              <a:rPr sz="1800" b="1" dirty="0">
                <a:solidFill>
                  <a:srgbClr val="000000"/>
                </a:solidFill>
                <a:latin typeface="Aptos"/>
              </a:rPr>
              <a:t>Go-to-Market Strategy</a:t>
            </a:r>
            <a:endParaRPr sz="1150" dirty="0">
              <a:solidFill>
                <a:schemeClr val="dk1"/>
              </a:solidFill>
              <a:latin typeface="Calibri"/>
              <a:ea typeface="Calibri"/>
              <a:cs typeface="Calibri"/>
              <a:sym typeface="Calibri"/>
            </a:endParaRPr>
          </a:p>
        </p:txBody>
      </p:sp>
      <p:sp>
        <p:nvSpPr>
          <p:cNvPr id="103" name="Google Shape;103;p5"/>
          <p:cNvSpPr/>
          <p:nvPr/>
        </p:nvSpPr>
        <p:spPr>
          <a:xfrm>
            <a:off x="661475" y="4252714"/>
            <a:ext cx="10868745" cy="839589"/>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A5568"/>
              </a:buClr>
              <a:buSzPts val="900"/>
              <a:buFont typeface="Inter Medium"/>
              <a:buNone/>
            </a:pPr>
            <a:r>
              <a:rPr sz="1400" b="0">
                <a:solidFill>
                  <a:srgbClr val="1E1E1E"/>
                </a:solidFill>
                <a:latin typeface="Aptos"/>
              </a:rPr>
              <a:t>Pilot with one ambulance service or hospital, gather feedback, then expand city-by-city with role-based dashboards.</a:t>
            </a:r>
            <a:endParaRPr sz="900">
              <a:solidFill>
                <a:schemeClr val="dk1"/>
              </a:solidFill>
              <a:latin typeface="Calibri"/>
              <a:ea typeface="Calibri"/>
              <a:cs typeface="Calibri"/>
              <a:sym typeface="Calibri"/>
            </a:endParaRPr>
          </a:p>
        </p:txBody>
      </p:sp>
      <p:sp>
        <p:nvSpPr>
          <p:cNvPr id="104" name="Google Shape;104;p5"/>
          <p:cNvSpPr/>
          <p:nvPr/>
        </p:nvSpPr>
        <p:spPr>
          <a:xfrm>
            <a:off x="661475" y="5201047"/>
            <a:ext cx="2073322" cy="18286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150"/>
              <a:buFont typeface="DM Sans SemiBold"/>
              <a:buNone/>
            </a:pPr>
            <a:r>
              <a:rPr sz="1800" b="1">
                <a:solidFill>
                  <a:srgbClr val="000000"/>
                </a:solidFill>
                <a:latin typeface="Aptos"/>
              </a:rPr>
              <a:t>Adoption Roadmap</a:t>
            </a:r>
            <a:endParaRPr sz="1150">
              <a:solidFill>
                <a:schemeClr val="dk1"/>
              </a:solidFill>
              <a:latin typeface="Calibri"/>
              <a:ea typeface="Calibri"/>
              <a:cs typeface="Calibri"/>
              <a:sym typeface="Calibri"/>
            </a:endParaRPr>
          </a:p>
        </p:txBody>
      </p:sp>
      <p:sp>
        <p:nvSpPr>
          <p:cNvPr id="105" name="Google Shape;105;p5"/>
          <p:cNvSpPr/>
          <p:nvPr/>
        </p:nvSpPr>
        <p:spPr>
          <a:xfrm>
            <a:off x="661475" y="5492651"/>
            <a:ext cx="10868745" cy="839589"/>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A5568"/>
              </a:buClr>
              <a:buSzPts val="900"/>
              <a:buFont typeface="Inter Medium"/>
              <a:buNone/>
            </a:pPr>
            <a:r>
              <a:rPr sz="1400" b="0">
                <a:solidFill>
                  <a:srgbClr val="1E1E1E"/>
                </a:solidFill>
                <a:latin typeface="Aptos"/>
              </a:rPr>
              <a:t>Start with triage + dispatch, then add hospital bed visibility, integrations, multilingual voice support, and analytics.</a:t>
            </a:r>
            <a:endParaRPr sz="900">
              <a:solidFill>
                <a:schemeClr val="dk1"/>
              </a:solidFill>
              <a:latin typeface="Calibri"/>
              <a:ea typeface="Calibri"/>
              <a:cs typeface="Calibri"/>
              <a:sym typeface="Calibri"/>
            </a:endParaRPr>
          </a:p>
        </p:txBody>
      </p:sp>
      <p:sp>
        <p:nvSpPr>
          <p:cNvPr id="106" name="Google Shape;106;p5"/>
          <p:cNvSpPr/>
          <p:nvPr/>
        </p:nvSpPr>
        <p:spPr>
          <a:xfrm>
            <a:off x="0" y="0"/>
            <a:ext cx="76200" cy="6858000"/>
          </a:xfrm>
          <a:prstGeom prst="rect">
            <a:avLst/>
          </a:prstGeom>
          <a:solidFill>
            <a:srgbClr val="1F6F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6"/>
          <p:cNvSpPr/>
          <p:nvPr/>
        </p:nvSpPr>
        <p:spPr>
          <a:xfrm>
            <a:off x="661475" y="746026"/>
            <a:ext cx="4714757" cy="33595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2100"/>
              <a:buFont typeface="DM Sans SemiBold"/>
              <a:buNone/>
            </a:pPr>
            <a:r>
              <a:rPr sz="2400" b="1">
                <a:solidFill>
                  <a:srgbClr val="0E2C54"/>
                </a:solidFill>
                <a:latin typeface="Aptos"/>
              </a:rPr>
              <a:t>Economic Viability &amp; Scalability</a:t>
            </a:r>
            <a:endParaRPr sz="2100">
              <a:solidFill>
                <a:schemeClr val="dk1"/>
              </a:solidFill>
              <a:latin typeface="Calibri"/>
              <a:ea typeface="Calibri"/>
              <a:cs typeface="Calibri"/>
              <a:sym typeface="Calibri"/>
            </a:endParaRPr>
          </a:p>
        </p:txBody>
      </p:sp>
      <p:sp>
        <p:nvSpPr>
          <p:cNvPr id="113" name="Google Shape;113;p6"/>
          <p:cNvSpPr/>
          <p:nvPr/>
        </p:nvSpPr>
        <p:spPr>
          <a:xfrm>
            <a:off x="661475" y="1173659"/>
            <a:ext cx="11478330" cy="13493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4A5568"/>
              </a:buClr>
              <a:buSzPts val="800"/>
              <a:buFont typeface="Inter Medium"/>
              <a:buNone/>
            </a:pPr>
            <a:r>
              <a:rPr sz="1400" b="0">
                <a:solidFill>
                  <a:srgbClr val="464646"/>
                </a:solidFill>
                <a:latin typeface="Aptos"/>
              </a:rPr>
              <a:t>Low-cost deployment with high social impact and a clear scaling path.</a:t>
            </a:r>
            <a:endParaRPr sz="800">
              <a:solidFill>
                <a:schemeClr val="dk1"/>
              </a:solidFill>
              <a:latin typeface="Calibri"/>
              <a:ea typeface="Calibri"/>
              <a:cs typeface="Calibri"/>
              <a:sym typeface="Calibri"/>
            </a:endParaRPr>
          </a:p>
        </p:txBody>
      </p:sp>
      <p:sp>
        <p:nvSpPr>
          <p:cNvPr id="114" name="Google Shape;114;p6"/>
          <p:cNvSpPr/>
          <p:nvPr/>
        </p:nvSpPr>
        <p:spPr>
          <a:xfrm>
            <a:off x="661473" y="1524396"/>
            <a:ext cx="2032564" cy="24824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050"/>
              <a:buFont typeface="DM Sans SemiBold"/>
              <a:buNone/>
            </a:pPr>
            <a:r>
              <a:rPr sz="1800" b="1" dirty="0">
                <a:solidFill>
                  <a:srgbClr val="000000"/>
                </a:solidFill>
                <a:latin typeface="Aptos"/>
              </a:rPr>
              <a:t>Economic Viability</a:t>
            </a:r>
            <a:endParaRPr sz="1050" dirty="0">
              <a:solidFill>
                <a:schemeClr val="dk1"/>
              </a:solidFill>
              <a:latin typeface="Calibri"/>
              <a:ea typeface="Calibri"/>
              <a:cs typeface="Calibri"/>
              <a:sym typeface="Calibri"/>
            </a:endParaRPr>
          </a:p>
        </p:txBody>
      </p:sp>
      <p:sp>
        <p:nvSpPr>
          <p:cNvPr id="115" name="Google Shape;115;p6"/>
          <p:cNvSpPr/>
          <p:nvPr/>
        </p:nvSpPr>
        <p:spPr>
          <a:xfrm>
            <a:off x="661473" y="1875135"/>
            <a:ext cx="10868745" cy="666949"/>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4A5568"/>
              </a:buClr>
              <a:buSzPts val="800"/>
              <a:buFont typeface="Inter Medium"/>
              <a:buNone/>
            </a:pPr>
            <a:r>
              <a:rPr sz="1400" b="0" dirty="0">
                <a:solidFill>
                  <a:srgbClr val="1E1E1E"/>
                </a:solidFill>
                <a:latin typeface="Aptos"/>
              </a:rPr>
              <a:t>Prototype can run on low-cost cloud hosting with open-source components and a usage-based AI API. Initial build cost is small and suitable for a student MVP.</a:t>
            </a:r>
            <a:endParaRPr sz="800" dirty="0">
              <a:solidFill>
                <a:schemeClr val="dk1"/>
              </a:solidFill>
              <a:latin typeface="Calibri"/>
              <a:ea typeface="Calibri"/>
              <a:cs typeface="Calibri"/>
              <a:sym typeface="Calibri"/>
            </a:endParaRPr>
          </a:p>
        </p:txBody>
      </p:sp>
      <p:sp>
        <p:nvSpPr>
          <p:cNvPr id="116" name="Google Shape;116;p6"/>
          <p:cNvSpPr/>
          <p:nvPr/>
        </p:nvSpPr>
        <p:spPr>
          <a:xfrm>
            <a:off x="661475" y="2904927"/>
            <a:ext cx="2417898" cy="167878"/>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050"/>
              <a:buFont typeface="DM Sans SemiBold"/>
              <a:buNone/>
            </a:pPr>
            <a:r>
              <a:rPr sz="1800" b="1" dirty="0">
                <a:solidFill>
                  <a:srgbClr val="000000"/>
                </a:solidFill>
                <a:latin typeface="Aptos"/>
              </a:rPr>
              <a:t>Cost-Benefit Summary</a:t>
            </a:r>
            <a:endParaRPr sz="1050" dirty="0">
              <a:solidFill>
                <a:schemeClr val="dk1"/>
              </a:solidFill>
              <a:latin typeface="Calibri"/>
              <a:ea typeface="Calibri"/>
              <a:cs typeface="Calibri"/>
              <a:sym typeface="Calibri"/>
            </a:endParaRPr>
          </a:p>
        </p:txBody>
      </p:sp>
      <p:sp>
        <p:nvSpPr>
          <p:cNvPr id="117" name="Google Shape;117;p6"/>
          <p:cNvSpPr/>
          <p:nvPr/>
        </p:nvSpPr>
        <p:spPr>
          <a:xfrm>
            <a:off x="661475" y="3164483"/>
            <a:ext cx="10868745" cy="54233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4A5568"/>
              </a:buClr>
              <a:buSzPts val="800"/>
              <a:buFont typeface="Inter Medium"/>
              <a:buNone/>
            </a:pPr>
            <a:r>
              <a:rPr sz="1400" b="0" dirty="0">
                <a:solidFill>
                  <a:srgbClr val="1E1E1E"/>
                </a:solidFill>
                <a:latin typeface="Aptos"/>
              </a:rPr>
              <a:t>Benefits include faster response time, better ambulance </a:t>
            </a:r>
            <a:r>
              <a:rPr sz="1400" b="0" dirty="0" err="1">
                <a:solidFill>
                  <a:srgbClr val="1E1E1E"/>
                </a:solidFill>
                <a:latin typeface="Aptos"/>
              </a:rPr>
              <a:t>utilisation</a:t>
            </a:r>
            <a:r>
              <a:rPr sz="1400" b="0" dirty="0">
                <a:solidFill>
                  <a:srgbClr val="1E1E1E"/>
                </a:solidFill>
                <a:latin typeface="Aptos"/>
              </a:rPr>
              <a:t>, and improved hospital preparedness compared with manual coordination.</a:t>
            </a:r>
            <a:endParaRPr sz="800" dirty="0">
              <a:solidFill>
                <a:schemeClr val="dk1"/>
              </a:solidFill>
              <a:latin typeface="Calibri"/>
              <a:ea typeface="Calibri"/>
              <a:cs typeface="Calibri"/>
              <a:sym typeface="Calibri"/>
            </a:endParaRPr>
          </a:p>
        </p:txBody>
      </p:sp>
      <p:sp>
        <p:nvSpPr>
          <p:cNvPr id="118" name="Google Shape;118;p6"/>
          <p:cNvSpPr/>
          <p:nvPr/>
        </p:nvSpPr>
        <p:spPr>
          <a:xfrm>
            <a:off x="661475" y="3990330"/>
            <a:ext cx="1953370" cy="167878"/>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050"/>
              <a:buFont typeface="DM Sans SemiBold"/>
              <a:buNone/>
            </a:pPr>
            <a:r>
              <a:rPr sz="1800" b="1" dirty="0">
                <a:solidFill>
                  <a:srgbClr val="000000"/>
                </a:solidFill>
                <a:latin typeface="Aptos"/>
              </a:rPr>
              <a:t>Scalability Plan</a:t>
            </a:r>
            <a:endParaRPr sz="1050" dirty="0">
              <a:solidFill>
                <a:schemeClr val="dk1"/>
              </a:solidFill>
              <a:latin typeface="Calibri"/>
              <a:ea typeface="Calibri"/>
              <a:cs typeface="Calibri"/>
              <a:sym typeface="Calibri"/>
            </a:endParaRPr>
          </a:p>
        </p:txBody>
      </p:sp>
      <p:sp>
        <p:nvSpPr>
          <p:cNvPr id="119" name="Google Shape;119;p6"/>
          <p:cNvSpPr/>
          <p:nvPr/>
        </p:nvSpPr>
        <p:spPr>
          <a:xfrm>
            <a:off x="661474" y="4317603"/>
            <a:ext cx="10868745" cy="54233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4A5568"/>
              </a:buClr>
              <a:buSzPts val="800"/>
              <a:buFont typeface="Inter Medium"/>
              <a:buNone/>
            </a:pPr>
            <a:r>
              <a:rPr sz="1400" b="0" dirty="0">
                <a:solidFill>
                  <a:srgbClr val="1E1E1E"/>
                </a:solidFill>
                <a:latin typeface="Aptos"/>
              </a:rPr>
              <a:t>Scales geographically by adding more hospitals and ambulances, and technically through APIs, role-based access, and modular services.</a:t>
            </a:r>
            <a:endParaRPr sz="800" dirty="0">
              <a:solidFill>
                <a:schemeClr val="dk1"/>
              </a:solidFill>
              <a:latin typeface="Calibri"/>
              <a:ea typeface="Calibri"/>
              <a:cs typeface="Calibri"/>
              <a:sym typeface="Calibri"/>
            </a:endParaRPr>
          </a:p>
        </p:txBody>
      </p:sp>
      <p:sp>
        <p:nvSpPr>
          <p:cNvPr id="120" name="Google Shape;120;p6"/>
          <p:cNvSpPr/>
          <p:nvPr/>
        </p:nvSpPr>
        <p:spPr>
          <a:xfrm>
            <a:off x="661474" y="4951611"/>
            <a:ext cx="3153441" cy="41433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050"/>
              <a:buFont typeface="DM Sans SemiBold"/>
              <a:buNone/>
            </a:pPr>
            <a:r>
              <a:rPr sz="1800" b="1" dirty="0">
                <a:solidFill>
                  <a:srgbClr val="000000"/>
                </a:solidFill>
                <a:latin typeface="Aptos"/>
              </a:rPr>
              <a:t>Long-Term Business Success</a:t>
            </a:r>
            <a:endParaRPr sz="1050" dirty="0">
              <a:solidFill>
                <a:schemeClr val="dk1"/>
              </a:solidFill>
              <a:latin typeface="Calibri"/>
              <a:ea typeface="Calibri"/>
              <a:cs typeface="Calibri"/>
              <a:sym typeface="Calibri"/>
            </a:endParaRPr>
          </a:p>
        </p:txBody>
      </p:sp>
      <p:sp>
        <p:nvSpPr>
          <p:cNvPr id="121" name="Google Shape;121;p6"/>
          <p:cNvSpPr/>
          <p:nvPr/>
        </p:nvSpPr>
        <p:spPr>
          <a:xfrm>
            <a:off x="661474" y="5311328"/>
            <a:ext cx="10868745" cy="746026"/>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4A5568"/>
              </a:buClr>
              <a:buSzPts val="800"/>
              <a:buFont typeface="Inter Medium"/>
              <a:buNone/>
            </a:pPr>
            <a:r>
              <a:rPr sz="1400" b="0" dirty="0">
                <a:solidFill>
                  <a:srgbClr val="1E1E1E"/>
                </a:solidFill>
                <a:latin typeface="Aptos"/>
              </a:rPr>
              <a:t>Revenue can come from hospital/EMS SaaS subscriptions, deployment support, and premium analytics dashboards.</a:t>
            </a:r>
            <a:endParaRPr sz="800" dirty="0">
              <a:solidFill>
                <a:schemeClr val="dk1"/>
              </a:solidFill>
              <a:latin typeface="Calibri"/>
              <a:ea typeface="Calibri"/>
              <a:cs typeface="Calibri"/>
              <a:sym typeface="Calibri"/>
            </a:endParaRPr>
          </a:p>
        </p:txBody>
      </p:sp>
      <p:sp>
        <p:nvSpPr>
          <p:cNvPr id="122" name="Google Shape;122;p6"/>
          <p:cNvSpPr/>
          <p:nvPr/>
        </p:nvSpPr>
        <p:spPr>
          <a:xfrm>
            <a:off x="0" y="0"/>
            <a:ext cx="76200" cy="6858000"/>
          </a:xfrm>
          <a:prstGeom prst="rect">
            <a:avLst/>
          </a:prstGeom>
          <a:solidFill>
            <a:srgbClr val="1F6F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7"/>
          <p:cNvSpPr/>
          <p:nvPr/>
        </p:nvSpPr>
        <p:spPr>
          <a:xfrm>
            <a:off x="661475" y="790178"/>
            <a:ext cx="4945733" cy="35986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2250"/>
              <a:buFont typeface="DM Sans SemiBold"/>
              <a:buNone/>
            </a:pPr>
            <a:r>
              <a:rPr sz="2400" b="1">
                <a:solidFill>
                  <a:srgbClr val="0E2C54"/>
                </a:solidFill>
                <a:latin typeface="Aptos"/>
              </a:rPr>
              <a:t>Security, Privacy &amp; Compliance</a:t>
            </a:r>
            <a:endParaRPr sz="2250">
              <a:solidFill>
                <a:schemeClr val="dk1"/>
              </a:solidFill>
              <a:latin typeface="Calibri"/>
              <a:ea typeface="Calibri"/>
              <a:cs typeface="Calibri"/>
              <a:sym typeface="Calibri"/>
            </a:endParaRPr>
          </a:p>
        </p:txBody>
      </p:sp>
      <p:sp>
        <p:nvSpPr>
          <p:cNvPr id="129" name="Google Shape;129;p7"/>
          <p:cNvSpPr/>
          <p:nvPr/>
        </p:nvSpPr>
        <p:spPr>
          <a:xfrm>
            <a:off x="661475" y="1255316"/>
            <a:ext cx="11478330" cy="148233"/>
          </a:xfrm>
          <a:prstGeom prst="rect">
            <a:avLst/>
          </a:prstGeom>
          <a:noFill/>
          <a:ln>
            <a:noFill/>
          </a:ln>
        </p:spPr>
        <p:txBody>
          <a:bodyPr spcFirstLastPara="1" wrap="square" lIns="0" tIns="0" rIns="0" bIns="0" anchor="t" anchorCtr="0">
            <a:noAutofit/>
          </a:bodyPr>
          <a:lstStyle/>
          <a:p>
            <a:pPr marL="0" marR="0" lvl="0" indent="0" algn="l" rtl="0">
              <a:lnSpc>
                <a:spcPct val="107000"/>
              </a:lnSpc>
              <a:spcBef>
                <a:spcPts val="0"/>
              </a:spcBef>
              <a:spcAft>
                <a:spcPts val="0"/>
              </a:spcAft>
              <a:buClr>
                <a:srgbClr val="4A5568"/>
              </a:buClr>
              <a:buSzPts val="900"/>
              <a:buFont typeface="Inter Medium"/>
              <a:buNone/>
            </a:pPr>
            <a:r>
              <a:rPr sz="1400" b="0">
                <a:solidFill>
                  <a:srgbClr val="464646"/>
                </a:solidFill>
                <a:latin typeface="Aptos"/>
              </a:rPr>
              <a:t>Emergency data must be protected, traceable, and resilient.</a:t>
            </a:r>
            <a:endParaRPr sz="900">
              <a:solidFill>
                <a:schemeClr val="dk1"/>
              </a:solidFill>
              <a:latin typeface="Calibri"/>
              <a:ea typeface="Calibri"/>
              <a:cs typeface="Calibri"/>
              <a:sym typeface="Calibri"/>
            </a:endParaRPr>
          </a:p>
        </p:txBody>
      </p:sp>
      <p:sp>
        <p:nvSpPr>
          <p:cNvPr id="130" name="Google Shape;130;p7"/>
          <p:cNvSpPr/>
          <p:nvPr/>
        </p:nvSpPr>
        <p:spPr>
          <a:xfrm>
            <a:off x="661475" y="1508820"/>
            <a:ext cx="2049312" cy="179884"/>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100"/>
              <a:buFont typeface="DM Sans SemiBold"/>
              <a:buNone/>
            </a:pPr>
            <a:r>
              <a:rPr sz="1800" b="1">
                <a:solidFill>
                  <a:srgbClr val="000000"/>
                </a:solidFill>
                <a:latin typeface="Aptos"/>
              </a:rPr>
              <a:t>Security Features</a:t>
            </a:r>
            <a:endParaRPr sz="1100">
              <a:solidFill>
                <a:schemeClr val="dk1"/>
              </a:solidFill>
              <a:latin typeface="Calibri"/>
              <a:ea typeface="Calibri"/>
              <a:cs typeface="Calibri"/>
              <a:sym typeface="Calibri"/>
            </a:endParaRPr>
          </a:p>
        </p:txBody>
      </p:sp>
      <p:sp>
        <p:nvSpPr>
          <p:cNvPr id="131" name="Google Shape;131;p7"/>
          <p:cNvSpPr/>
          <p:nvPr/>
        </p:nvSpPr>
        <p:spPr>
          <a:xfrm>
            <a:off x="661475" y="1793974"/>
            <a:ext cx="10868745" cy="829568"/>
          </a:xfrm>
          <a:prstGeom prst="rect">
            <a:avLst/>
          </a:prstGeom>
          <a:noFill/>
          <a:ln>
            <a:noFill/>
          </a:ln>
        </p:spPr>
        <p:txBody>
          <a:bodyPr spcFirstLastPara="1" wrap="square" lIns="0" tIns="0" rIns="0" bIns="0" anchor="t" anchorCtr="0">
            <a:noAutofit/>
          </a:bodyPr>
          <a:lstStyle/>
          <a:p>
            <a:pPr marL="0" marR="0" lvl="0" indent="0" algn="l" rtl="0">
              <a:lnSpc>
                <a:spcPct val="107000"/>
              </a:lnSpc>
              <a:spcBef>
                <a:spcPts val="0"/>
              </a:spcBef>
              <a:spcAft>
                <a:spcPts val="0"/>
              </a:spcAft>
              <a:buClr>
                <a:srgbClr val="4A5568"/>
              </a:buClr>
              <a:buSzPts val="900"/>
              <a:buFont typeface="Inter Medium"/>
              <a:buNone/>
            </a:pPr>
            <a:r>
              <a:rPr sz="1400" b="0">
                <a:solidFill>
                  <a:srgbClr val="1E1E1E"/>
                </a:solidFill>
                <a:latin typeface="Aptos"/>
              </a:rPr>
              <a:t>Role-based access, OTP/login, HTTPS, audit logs, and restricted access to emergency records.</a:t>
            </a:r>
            <a:endParaRPr sz="900">
              <a:solidFill>
                <a:schemeClr val="dk1"/>
              </a:solidFill>
              <a:latin typeface="Calibri"/>
              <a:ea typeface="Calibri"/>
              <a:cs typeface="Calibri"/>
              <a:sym typeface="Calibri"/>
            </a:endParaRPr>
          </a:p>
        </p:txBody>
      </p:sp>
      <p:sp>
        <p:nvSpPr>
          <p:cNvPr id="132" name="Google Shape;132;p7"/>
          <p:cNvSpPr/>
          <p:nvPr/>
        </p:nvSpPr>
        <p:spPr>
          <a:xfrm>
            <a:off x="661475" y="2728813"/>
            <a:ext cx="2049312" cy="179884"/>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100"/>
              <a:buFont typeface="DM Sans SemiBold"/>
              <a:buNone/>
            </a:pPr>
            <a:r>
              <a:rPr sz="1800" b="1">
                <a:solidFill>
                  <a:srgbClr val="000000"/>
                </a:solidFill>
                <a:latin typeface="Aptos"/>
              </a:rPr>
              <a:t>Data Privacy</a:t>
            </a:r>
            <a:endParaRPr sz="1100">
              <a:solidFill>
                <a:schemeClr val="dk1"/>
              </a:solidFill>
              <a:latin typeface="Calibri"/>
              <a:ea typeface="Calibri"/>
              <a:cs typeface="Calibri"/>
              <a:sym typeface="Calibri"/>
            </a:endParaRPr>
          </a:p>
        </p:txBody>
      </p:sp>
      <p:sp>
        <p:nvSpPr>
          <p:cNvPr id="133" name="Google Shape;133;p7"/>
          <p:cNvSpPr/>
          <p:nvPr/>
        </p:nvSpPr>
        <p:spPr>
          <a:xfrm>
            <a:off x="661475" y="3013968"/>
            <a:ext cx="10868745" cy="829568"/>
          </a:xfrm>
          <a:prstGeom prst="rect">
            <a:avLst/>
          </a:prstGeom>
          <a:noFill/>
          <a:ln>
            <a:noFill/>
          </a:ln>
        </p:spPr>
        <p:txBody>
          <a:bodyPr spcFirstLastPara="1" wrap="square" lIns="0" tIns="0" rIns="0" bIns="0" anchor="t" anchorCtr="0">
            <a:noAutofit/>
          </a:bodyPr>
          <a:lstStyle/>
          <a:p>
            <a:pPr marL="0" marR="0" lvl="0" indent="0" algn="l" rtl="0">
              <a:lnSpc>
                <a:spcPct val="107000"/>
              </a:lnSpc>
              <a:spcBef>
                <a:spcPts val="0"/>
              </a:spcBef>
              <a:spcAft>
                <a:spcPts val="0"/>
              </a:spcAft>
              <a:buClr>
                <a:srgbClr val="4A5568"/>
              </a:buClr>
              <a:buSzPts val="900"/>
              <a:buFont typeface="Inter Medium"/>
              <a:buNone/>
            </a:pPr>
            <a:r>
              <a:rPr sz="1400" b="0">
                <a:solidFill>
                  <a:srgbClr val="1E1E1E"/>
                </a:solidFill>
                <a:latin typeface="Aptos"/>
              </a:rPr>
              <a:t>Collect only essential patient details, minimise retention, and apply privacy-by-design so sensitive data is shared only with authorised responders.</a:t>
            </a:r>
            <a:endParaRPr sz="900">
              <a:solidFill>
                <a:schemeClr val="dk1"/>
              </a:solidFill>
              <a:latin typeface="Calibri"/>
              <a:ea typeface="Calibri"/>
              <a:cs typeface="Calibri"/>
              <a:sym typeface="Calibri"/>
            </a:endParaRPr>
          </a:p>
        </p:txBody>
      </p:sp>
      <p:sp>
        <p:nvSpPr>
          <p:cNvPr id="134" name="Google Shape;134;p7"/>
          <p:cNvSpPr/>
          <p:nvPr/>
        </p:nvSpPr>
        <p:spPr>
          <a:xfrm>
            <a:off x="661474" y="3948807"/>
            <a:ext cx="2691325" cy="179884"/>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100"/>
              <a:buFont typeface="DM Sans SemiBold"/>
              <a:buNone/>
            </a:pPr>
            <a:r>
              <a:rPr sz="1800" b="1" dirty="0">
                <a:solidFill>
                  <a:srgbClr val="000000"/>
                </a:solidFill>
                <a:latin typeface="Aptos"/>
              </a:rPr>
              <a:t>Compliance &amp; Standards</a:t>
            </a:r>
            <a:endParaRPr sz="1100" dirty="0">
              <a:solidFill>
                <a:schemeClr val="dk1"/>
              </a:solidFill>
              <a:latin typeface="Calibri"/>
              <a:ea typeface="Calibri"/>
              <a:cs typeface="Calibri"/>
              <a:sym typeface="Calibri"/>
            </a:endParaRPr>
          </a:p>
        </p:txBody>
      </p:sp>
      <p:sp>
        <p:nvSpPr>
          <p:cNvPr id="135" name="Google Shape;135;p7"/>
          <p:cNvSpPr/>
          <p:nvPr/>
        </p:nvSpPr>
        <p:spPr>
          <a:xfrm>
            <a:off x="661475" y="4233962"/>
            <a:ext cx="10868745" cy="829568"/>
          </a:xfrm>
          <a:prstGeom prst="rect">
            <a:avLst/>
          </a:prstGeom>
          <a:noFill/>
          <a:ln>
            <a:noFill/>
          </a:ln>
        </p:spPr>
        <p:txBody>
          <a:bodyPr spcFirstLastPara="1" wrap="square" lIns="0" tIns="0" rIns="0" bIns="0" anchor="t" anchorCtr="0">
            <a:noAutofit/>
          </a:bodyPr>
          <a:lstStyle/>
          <a:p>
            <a:pPr marL="0" marR="0" lvl="0" indent="0" algn="l" rtl="0">
              <a:lnSpc>
                <a:spcPct val="107000"/>
              </a:lnSpc>
              <a:spcBef>
                <a:spcPts val="0"/>
              </a:spcBef>
              <a:spcAft>
                <a:spcPts val="0"/>
              </a:spcAft>
              <a:buClr>
                <a:srgbClr val="4A5568"/>
              </a:buClr>
              <a:buSzPts val="900"/>
              <a:buFont typeface="Inter Medium"/>
              <a:buNone/>
            </a:pPr>
            <a:r>
              <a:rPr sz="1400" b="0" dirty="0">
                <a:solidFill>
                  <a:srgbClr val="1E1E1E"/>
                </a:solidFill>
                <a:latin typeface="Aptos"/>
              </a:rPr>
              <a:t>Designed to align with basic health-data handling, accessibility, and privacy principles suitable for Indian digital deployment.</a:t>
            </a:r>
            <a:endParaRPr sz="900" dirty="0">
              <a:solidFill>
                <a:schemeClr val="dk1"/>
              </a:solidFill>
              <a:latin typeface="Calibri"/>
              <a:ea typeface="Calibri"/>
              <a:cs typeface="Calibri"/>
              <a:sym typeface="Calibri"/>
            </a:endParaRPr>
          </a:p>
        </p:txBody>
      </p:sp>
      <p:sp>
        <p:nvSpPr>
          <p:cNvPr id="136" name="Google Shape;136;p7"/>
          <p:cNvSpPr/>
          <p:nvPr/>
        </p:nvSpPr>
        <p:spPr>
          <a:xfrm>
            <a:off x="661475" y="5168801"/>
            <a:ext cx="2049312" cy="179884"/>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100"/>
              <a:buFont typeface="DM Sans SemiBold"/>
              <a:buNone/>
            </a:pPr>
            <a:r>
              <a:rPr sz="1800" b="1">
                <a:solidFill>
                  <a:srgbClr val="000000"/>
                </a:solidFill>
                <a:latin typeface="Aptos"/>
              </a:rPr>
              <a:t>System Resilience</a:t>
            </a:r>
            <a:endParaRPr sz="1100">
              <a:solidFill>
                <a:schemeClr val="dk1"/>
              </a:solidFill>
              <a:latin typeface="Calibri"/>
              <a:ea typeface="Calibri"/>
              <a:cs typeface="Calibri"/>
              <a:sym typeface="Calibri"/>
            </a:endParaRPr>
          </a:p>
        </p:txBody>
      </p:sp>
      <p:sp>
        <p:nvSpPr>
          <p:cNvPr id="137" name="Google Shape;137;p7"/>
          <p:cNvSpPr/>
          <p:nvPr/>
        </p:nvSpPr>
        <p:spPr>
          <a:xfrm>
            <a:off x="661475" y="5453955"/>
            <a:ext cx="10868745" cy="829568"/>
          </a:xfrm>
          <a:prstGeom prst="rect">
            <a:avLst/>
          </a:prstGeom>
          <a:noFill/>
          <a:ln>
            <a:noFill/>
          </a:ln>
        </p:spPr>
        <p:txBody>
          <a:bodyPr spcFirstLastPara="1" wrap="square" lIns="0" tIns="0" rIns="0" bIns="0" anchor="t" anchorCtr="0">
            <a:noAutofit/>
          </a:bodyPr>
          <a:lstStyle/>
          <a:p>
            <a:pPr marL="0" marR="0" lvl="0" indent="0" algn="l" rtl="0">
              <a:lnSpc>
                <a:spcPct val="107000"/>
              </a:lnSpc>
              <a:spcBef>
                <a:spcPts val="0"/>
              </a:spcBef>
              <a:spcAft>
                <a:spcPts val="0"/>
              </a:spcAft>
              <a:buClr>
                <a:srgbClr val="4A5568"/>
              </a:buClr>
              <a:buSzPts val="900"/>
              <a:buFont typeface="Inter Medium"/>
              <a:buNone/>
            </a:pPr>
            <a:r>
              <a:rPr sz="1400" b="0">
                <a:solidFill>
                  <a:srgbClr val="1E1E1E"/>
                </a:solidFill>
                <a:latin typeface="Aptos"/>
              </a:rPr>
              <a:t>If AI or network services are unavailable, the system falls back to manual case logging, cached hospital data, and direct call coordination.</a:t>
            </a:r>
            <a:endParaRPr sz="900">
              <a:solidFill>
                <a:schemeClr val="dk1"/>
              </a:solidFill>
              <a:latin typeface="Calibri"/>
              <a:ea typeface="Calibri"/>
              <a:cs typeface="Calibri"/>
              <a:sym typeface="Calibri"/>
            </a:endParaRPr>
          </a:p>
        </p:txBody>
      </p:sp>
      <p:sp>
        <p:nvSpPr>
          <p:cNvPr id="138" name="Google Shape;138;p7"/>
          <p:cNvSpPr/>
          <p:nvPr/>
        </p:nvSpPr>
        <p:spPr>
          <a:xfrm>
            <a:off x="0" y="0"/>
            <a:ext cx="76200" cy="6858000"/>
          </a:xfrm>
          <a:prstGeom prst="rect">
            <a:avLst/>
          </a:prstGeom>
          <a:solidFill>
            <a:srgbClr val="1F6F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8"/>
          <p:cNvSpPr/>
          <p:nvPr/>
        </p:nvSpPr>
        <p:spPr>
          <a:xfrm>
            <a:off x="661475" y="766068"/>
            <a:ext cx="6425642" cy="36591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2300"/>
              <a:buFont typeface="DM Sans SemiBold"/>
              <a:buNone/>
            </a:pPr>
            <a:r>
              <a:rPr sz="2400" b="1" dirty="0">
                <a:solidFill>
                  <a:srgbClr val="0E2C54"/>
                </a:solidFill>
                <a:latin typeface="Aptos"/>
              </a:rPr>
              <a:t>Prototype Demonstration &amp; Functionality</a:t>
            </a:r>
            <a:endParaRPr sz="2300" dirty="0">
              <a:solidFill>
                <a:schemeClr val="dk1"/>
              </a:solidFill>
              <a:latin typeface="Calibri"/>
              <a:ea typeface="Calibri"/>
              <a:cs typeface="Calibri"/>
              <a:sym typeface="Calibri"/>
            </a:endParaRPr>
          </a:p>
        </p:txBody>
      </p:sp>
      <p:sp>
        <p:nvSpPr>
          <p:cNvPr id="146" name="Google Shape;146;p8"/>
          <p:cNvSpPr/>
          <p:nvPr/>
        </p:nvSpPr>
        <p:spPr>
          <a:xfrm>
            <a:off x="661474" y="1240729"/>
            <a:ext cx="2924098" cy="29160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150"/>
              <a:buFont typeface="DM Sans SemiBold"/>
              <a:buNone/>
            </a:pPr>
            <a:r>
              <a:rPr sz="1800" b="1" dirty="0">
                <a:solidFill>
                  <a:srgbClr val="000000"/>
                </a:solidFill>
                <a:latin typeface="Aptos"/>
              </a:rPr>
              <a:t>Product / Solution Images</a:t>
            </a:r>
            <a:endParaRPr sz="1150" dirty="0">
              <a:solidFill>
                <a:schemeClr val="dk1"/>
              </a:solidFill>
              <a:latin typeface="Calibri"/>
              <a:ea typeface="Calibri"/>
              <a:cs typeface="Calibri"/>
              <a:sym typeface="Calibri"/>
            </a:endParaRPr>
          </a:p>
        </p:txBody>
      </p:sp>
      <p:sp>
        <p:nvSpPr>
          <p:cNvPr id="148" name="Google Shape;148;p8"/>
          <p:cNvSpPr/>
          <p:nvPr/>
        </p:nvSpPr>
        <p:spPr>
          <a:xfrm>
            <a:off x="661474" y="4643755"/>
            <a:ext cx="2073322" cy="18286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150"/>
              <a:buFont typeface="DM Sans SemiBold"/>
              <a:buNone/>
            </a:pPr>
            <a:r>
              <a:rPr sz="1800" b="1" dirty="0">
                <a:solidFill>
                  <a:srgbClr val="000000"/>
                </a:solidFill>
                <a:latin typeface="Aptos"/>
              </a:rPr>
              <a:t>Demo Details</a:t>
            </a:r>
            <a:endParaRPr sz="1150" dirty="0">
              <a:solidFill>
                <a:schemeClr val="dk1"/>
              </a:solidFill>
              <a:latin typeface="Calibri"/>
              <a:ea typeface="Calibri"/>
              <a:cs typeface="Calibri"/>
              <a:sym typeface="Calibri"/>
            </a:endParaRPr>
          </a:p>
        </p:txBody>
      </p:sp>
      <p:sp>
        <p:nvSpPr>
          <p:cNvPr id="150" name="Google Shape;150;p8"/>
          <p:cNvSpPr/>
          <p:nvPr/>
        </p:nvSpPr>
        <p:spPr>
          <a:xfrm>
            <a:off x="661474" y="5471469"/>
            <a:ext cx="4284151" cy="29160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150"/>
              <a:buFont typeface="DM Sans SemiBold"/>
              <a:buNone/>
            </a:pPr>
            <a:r>
              <a:rPr sz="1800" b="1" dirty="0">
                <a:solidFill>
                  <a:srgbClr val="000000"/>
                </a:solidFill>
                <a:latin typeface="Aptos"/>
              </a:rPr>
              <a:t>Key Functionalities to be Demonstrated</a:t>
            </a:r>
            <a:endParaRPr sz="1150" dirty="0">
              <a:solidFill>
                <a:schemeClr val="dk1"/>
              </a:solidFill>
              <a:latin typeface="Calibri"/>
              <a:ea typeface="Calibri"/>
              <a:cs typeface="Calibri"/>
              <a:sym typeface="Calibri"/>
            </a:endParaRPr>
          </a:p>
        </p:txBody>
      </p:sp>
      <p:sp>
        <p:nvSpPr>
          <p:cNvPr id="151" name="Google Shape;151;p8"/>
          <p:cNvSpPr/>
          <p:nvPr/>
        </p:nvSpPr>
        <p:spPr>
          <a:xfrm>
            <a:off x="661474" y="5779306"/>
            <a:ext cx="10868745" cy="36909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4A5568"/>
              </a:buClr>
              <a:buSzPts val="900"/>
              <a:buFont typeface="Inter Medium"/>
              <a:buNone/>
            </a:pPr>
            <a:r>
              <a:rPr sz="1400" b="0" dirty="0">
                <a:solidFill>
                  <a:srgbClr val="1E1E1E"/>
                </a:solidFill>
                <a:latin typeface="Aptos"/>
              </a:rPr>
              <a:t>AI triage, urgency classification, nearest hospital recommendation, live case tracking, dispatcher actions, and emergency status updates.</a:t>
            </a:r>
            <a:endParaRPr sz="900" dirty="0">
              <a:solidFill>
                <a:schemeClr val="dk1"/>
              </a:solidFill>
              <a:latin typeface="Calibri"/>
              <a:ea typeface="Calibri"/>
              <a:cs typeface="Calibri"/>
              <a:sym typeface="Calibri"/>
            </a:endParaRPr>
          </a:p>
        </p:txBody>
      </p:sp>
      <p:sp>
        <p:nvSpPr>
          <p:cNvPr id="152" name="Google Shape;152;p8"/>
          <p:cNvSpPr/>
          <p:nvPr/>
        </p:nvSpPr>
        <p:spPr>
          <a:xfrm>
            <a:off x="0" y="0"/>
            <a:ext cx="76200" cy="6858000"/>
          </a:xfrm>
          <a:prstGeom prst="rect">
            <a:avLst/>
          </a:prstGeom>
          <a:solidFill>
            <a:srgbClr val="1F6F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6B61C672-53A5-1CEE-348C-4BC34F9F7B59}"/>
              </a:ext>
            </a:extLst>
          </p:cNvPr>
          <p:cNvPicPr>
            <a:picLocks noChangeAspect="1"/>
          </p:cNvPicPr>
          <p:nvPr/>
        </p:nvPicPr>
        <p:blipFill>
          <a:blip r:embed="rId3"/>
          <a:stretch>
            <a:fillRect/>
          </a:stretch>
        </p:blipFill>
        <p:spPr>
          <a:xfrm>
            <a:off x="661475" y="1592709"/>
            <a:ext cx="5224013" cy="2834640"/>
          </a:xfrm>
          <a:prstGeom prst="rect">
            <a:avLst/>
          </a:prstGeom>
        </p:spPr>
      </p:pic>
      <p:pic>
        <p:nvPicPr>
          <p:cNvPr id="5" name="Picture 4">
            <a:extLst>
              <a:ext uri="{FF2B5EF4-FFF2-40B4-BE49-F238E27FC236}">
                <a16:creationId xmlns:a16="http://schemas.microsoft.com/office/drawing/2014/main" id="{097AA9E1-266C-F7CC-68D9-69018FD7CD00}"/>
              </a:ext>
            </a:extLst>
          </p:cNvPr>
          <p:cNvPicPr>
            <a:picLocks noChangeAspect="1"/>
          </p:cNvPicPr>
          <p:nvPr/>
        </p:nvPicPr>
        <p:blipFill>
          <a:blip r:embed="rId4"/>
          <a:stretch>
            <a:fillRect/>
          </a:stretch>
        </p:blipFill>
        <p:spPr>
          <a:xfrm>
            <a:off x="6095846" y="1592710"/>
            <a:ext cx="5322904" cy="2834640"/>
          </a:xfrm>
          <a:prstGeom prst="rect">
            <a:avLst/>
          </a:prstGeom>
        </p:spPr>
      </p:pic>
      <p:sp>
        <p:nvSpPr>
          <p:cNvPr id="4" name="Google Shape;146;p8">
            <a:extLst>
              <a:ext uri="{FF2B5EF4-FFF2-40B4-BE49-F238E27FC236}">
                <a16:creationId xmlns:a16="http://schemas.microsoft.com/office/drawing/2014/main" id="{830FCAA3-22DE-5A7F-52BB-A2CFB36D5140}"/>
              </a:ext>
            </a:extLst>
          </p:cNvPr>
          <p:cNvSpPr/>
          <p:nvPr/>
        </p:nvSpPr>
        <p:spPr>
          <a:xfrm>
            <a:off x="661474" y="5011897"/>
            <a:ext cx="4923249" cy="182860"/>
          </a:xfrm>
          <a:prstGeom prst="rect">
            <a:avLst/>
          </a:prstGeom>
          <a:noFill/>
          <a:ln>
            <a:noFill/>
          </a:ln>
        </p:spPr>
        <p:txBody>
          <a:bodyPr spcFirstLastPara="1" wrap="square" lIns="0" tIns="0" rIns="0" bIns="0" anchor="t" anchorCtr="0">
            <a:noAutofit/>
          </a:bodyPr>
          <a:lstStyle/>
          <a:p>
            <a:pPr lvl="0">
              <a:lnSpc>
                <a:spcPct val="104000"/>
              </a:lnSpc>
              <a:buClr>
                <a:srgbClr val="14213D"/>
              </a:buClr>
              <a:buSzPts val="1150"/>
            </a:pPr>
            <a:r>
              <a:rPr lang="en-IN" sz="1200" dirty="0">
                <a:hlinkClick r:id="rId5"/>
              </a:rPr>
              <a:t>Pranav_Mahesh_Palled_MediLink_AI_ScreenCast.mp4 - Google Drive</a:t>
            </a:r>
            <a:endParaRPr sz="1150" dirty="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9"/>
          <p:cNvSpPr/>
          <p:nvPr/>
        </p:nvSpPr>
        <p:spPr>
          <a:xfrm>
            <a:off x="661475" y="548680"/>
            <a:ext cx="5691442" cy="406995"/>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2550"/>
              <a:buFont typeface="DM Sans SemiBold"/>
              <a:buNone/>
            </a:pPr>
            <a:r>
              <a:rPr sz="2400" b="1">
                <a:solidFill>
                  <a:srgbClr val="0E2C54"/>
                </a:solidFill>
                <a:latin typeface="Aptos"/>
              </a:rPr>
              <a:t>Additional Information &amp; Closing</a:t>
            </a:r>
            <a:endParaRPr sz="2550">
              <a:solidFill>
                <a:schemeClr val="dk1"/>
              </a:solidFill>
              <a:latin typeface="Calibri"/>
              <a:ea typeface="Calibri"/>
              <a:cs typeface="Calibri"/>
              <a:sym typeface="Calibri"/>
            </a:endParaRPr>
          </a:p>
        </p:txBody>
      </p:sp>
      <p:sp>
        <p:nvSpPr>
          <p:cNvPr id="159" name="Google Shape;159;p9"/>
          <p:cNvSpPr/>
          <p:nvPr/>
        </p:nvSpPr>
        <p:spPr>
          <a:xfrm>
            <a:off x="661475" y="1135162"/>
            <a:ext cx="10868745" cy="352028"/>
          </a:xfrm>
          <a:prstGeom prst="rect">
            <a:avLst/>
          </a:prstGeom>
          <a:noFill/>
          <a:ln>
            <a:noFill/>
          </a:ln>
        </p:spPr>
        <p:txBody>
          <a:bodyPr spcFirstLastPara="1" wrap="square" lIns="0" tIns="0" rIns="0" bIns="0" anchor="t" anchorCtr="0">
            <a:normAutofit/>
          </a:bodyPr>
          <a:lstStyle/>
          <a:p>
            <a:pPr marL="0" marR="0" lvl="0" indent="0" algn="l" rtl="0">
              <a:lnSpc>
                <a:spcPct val="113000"/>
              </a:lnSpc>
              <a:spcBef>
                <a:spcPts val="0"/>
              </a:spcBef>
              <a:spcAft>
                <a:spcPts val="0"/>
              </a:spcAft>
              <a:buClr>
                <a:srgbClr val="4A5568"/>
              </a:buClr>
              <a:buSzPts val="1000"/>
              <a:buFont typeface="Inter Medium"/>
              <a:buNone/>
            </a:pPr>
            <a:r>
              <a:rPr sz="1400" b="0">
                <a:solidFill>
                  <a:srgbClr val="464646"/>
                </a:solidFill>
                <a:latin typeface="Aptos"/>
              </a:rPr>
              <a:t>A focused solo build with a strong social impact story and a deployable product path.</a:t>
            </a:r>
            <a:endParaRPr sz="1000">
              <a:solidFill>
                <a:schemeClr val="dk1"/>
              </a:solidFill>
              <a:latin typeface="Calibri"/>
              <a:ea typeface="Calibri"/>
              <a:cs typeface="Calibri"/>
              <a:sym typeface="Calibri"/>
            </a:endParaRPr>
          </a:p>
        </p:txBody>
      </p:sp>
      <p:sp>
        <p:nvSpPr>
          <p:cNvPr id="160" name="Google Shape;160;p9"/>
          <p:cNvSpPr/>
          <p:nvPr/>
        </p:nvSpPr>
        <p:spPr>
          <a:xfrm>
            <a:off x="661475" y="1621730"/>
            <a:ext cx="2237624" cy="203498"/>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250"/>
              <a:buFont typeface="DM Sans SemiBold"/>
              <a:buNone/>
            </a:pPr>
            <a:r>
              <a:rPr sz="1800" b="1">
                <a:solidFill>
                  <a:srgbClr val="000000"/>
                </a:solidFill>
                <a:latin typeface="Aptos"/>
              </a:rPr>
              <a:t>Additional Details</a:t>
            </a:r>
            <a:endParaRPr sz="1250">
              <a:solidFill>
                <a:schemeClr val="dk1"/>
              </a:solidFill>
              <a:latin typeface="Calibri"/>
              <a:ea typeface="Calibri"/>
              <a:cs typeface="Calibri"/>
              <a:sym typeface="Calibri"/>
            </a:endParaRPr>
          </a:p>
        </p:txBody>
      </p:sp>
      <p:sp>
        <p:nvSpPr>
          <p:cNvPr id="161" name="Google Shape;161;p9"/>
          <p:cNvSpPr/>
          <p:nvPr/>
        </p:nvSpPr>
        <p:spPr>
          <a:xfrm>
            <a:off x="661475" y="1959769"/>
            <a:ext cx="10868745" cy="1837531"/>
          </a:xfrm>
          <a:prstGeom prst="rect">
            <a:avLst/>
          </a:prstGeom>
          <a:noFill/>
          <a:ln>
            <a:noFill/>
          </a:ln>
        </p:spPr>
        <p:txBody>
          <a:bodyPr spcFirstLastPara="1" wrap="square" lIns="0" tIns="0" rIns="0" bIns="0" anchor="t" anchorCtr="0">
            <a:noAutofit/>
          </a:bodyPr>
          <a:lstStyle/>
          <a:p>
            <a:pPr lvl="0">
              <a:lnSpc>
                <a:spcPct val="113000"/>
              </a:lnSpc>
              <a:buClr>
                <a:srgbClr val="4A5568"/>
              </a:buClr>
              <a:buSzPts val="1000"/>
            </a:pPr>
            <a:r>
              <a:rPr lang="en-IN" dirty="0"/>
              <a:t>Prepared as an individual submission for the Crisis Management, HealthTech &amp; Emergency Response theme. The solution is intentionally narrow and practical, focusing on AI-assisted ambulance triage, emergency prioritization, and hospital coordination. The prototype is built as a deployable, demo-ready proof of concept with AI at the core.</a:t>
            </a:r>
            <a:endParaRPr sz="1000" dirty="0">
              <a:solidFill>
                <a:schemeClr val="dk1"/>
              </a:solidFill>
              <a:latin typeface="Calibri"/>
              <a:ea typeface="Calibri"/>
              <a:cs typeface="Calibri"/>
              <a:sym typeface="Calibri"/>
            </a:endParaRPr>
          </a:p>
        </p:txBody>
      </p:sp>
      <p:sp>
        <p:nvSpPr>
          <p:cNvPr id="162" name="Google Shape;162;p9"/>
          <p:cNvSpPr/>
          <p:nvPr/>
        </p:nvSpPr>
        <p:spPr>
          <a:xfrm>
            <a:off x="661475" y="3931841"/>
            <a:ext cx="2237624" cy="203498"/>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4213D"/>
              </a:buClr>
              <a:buSzPts val="1250"/>
              <a:buFont typeface="DM Sans SemiBold"/>
              <a:buNone/>
            </a:pPr>
            <a:r>
              <a:rPr sz="1800" b="1">
                <a:solidFill>
                  <a:srgbClr val="000000"/>
                </a:solidFill>
                <a:latin typeface="Aptos"/>
              </a:rPr>
              <a:t>References &amp; Links</a:t>
            </a:r>
            <a:endParaRPr sz="1250">
              <a:solidFill>
                <a:schemeClr val="dk1"/>
              </a:solidFill>
              <a:latin typeface="Calibri"/>
              <a:ea typeface="Calibri"/>
              <a:cs typeface="Calibri"/>
              <a:sym typeface="Calibri"/>
            </a:endParaRPr>
          </a:p>
        </p:txBody>
      </p:sp>
      <p:sp>
        <p:nvSpPr>
          <p:cNvPr id="163" name="Google Shape;163;p9"/>
          <p:cNvSpPr/>
          <p:nvPr/>
        </p:nvSpPr>
        <p:spPr>
          <a:xfrm>
            <a:off x="661475" y="4269879"/>
            <a:ext cx="10868745" cy="1283692"/>
          </a:xfrm>
          <a:prstGeom prst="rect">
            <a:avLst/>
          </a:prstGeom>
          <a:noFill/>
          <a:ln>
            <a:noFill/>
          </a:ln>
        </p:spPr>
        <p:txBody>
          <a:bodyPr spcFirstLastPara="1" wrap="square" lIns="0" tIns="0" rIns="0" bIns="0" anchor="t" anchorCtr="0">
            <a:noAutofit/>
          </a:bodyPr>
          <a:lstStyle/>
          <a:p>
            <a:pPr lvl="0">
              <a:lnSpc>
                <a:spcPct val="113000"/>
              </a:lnSpc>
              <a:buClr>
                <a:srgbClr val="4A5568"/>
              </a:buClr>
              <a:buSzPts val="1000"/>
            </a:pPr>
            <a:r>
              <a:rPr lang="en-IN" dirty="0"/>
              <a:t>GitHub repository: </a:t>
            </a:r>
            <a:r>
              <a:rPr lang="en-IN" dirty="0">
                <a:hlinkClick r:id="rId3"/>
              </a:rPr>
              <a:t>Pranav-Mahesh-Palled/</a:t>
            </a:r>
            <a:r>
              <a:rPr lang="en-IN" dirty="0" err="1">
                <a:hlinkClick r:id="rId3"/>
              </a:rPr>
              <a:t>MediLink_AI</a:t>
            </a:r>
            <a:br>
              <a:rPr lang="en-IN" dirty="0"/>
            </a:br>
            <a:r>
              <a:rPr lang="en-IN" dirty="0"/>
              <a:t>Deployed prototype: </a:t>
            </a:r>
            <a:r>
              <a:rPr lang="en-IN" dirty="0" err="1">
                <a:hlinkClick r:id="rId4"/>
              </a:rPr>
              <a:t>MediLink</a:t>
            </a:r>
            <a:r>
              <a:rPr lang="en-IN" dirty="0">
                <a:hlinkClick r:id="rId4"/>
              </a:rPr>
              <a:t> AI — Connected Ambulance Triage</a:t>
            </a:r>
            <a:br>
              <a:rPr lang="en-IN" dirty="0"/>
            </a:br>
            <a:r>
              <a:rPr lang="en-IN" dirty="0"/>
              <a:t>Demo video: </a:t>
            </a:r>
            <a:r>
              <a:rPr lang="en-IN" dirty="0">
                <a:hlinkClick r:id="rId5"/>
              </a:rPr>
              <a:t>Pranav_Mahesh_Palled_MediLink_AI_ScreenCast.mp4 - Google Drive</a:t>
            </a:r>
            <a:endParaRPr dirty="0">
              <a:solidFill>
                <a:schemeClr val="dk1"/>
              </a:solidFill>
              <a:latin typeface="Calibri"/>
              <a:ea typeface="Calibri"/>
              <a:cs typeface="Calibri"/>
              <a:sym typeface="Calibri"/>
            </a:endParaRPr>
          </a:p>
        </p:txBody>
      </p:sp>
      <p:sp>
        <p:nvSpPr>
          <p:cNvPr id="164" name="Google Shape;164;p9"/>
          <p:cNvSpPr/>
          <p:nvPr/>
        </p:nvSpPr>
        <p:spPr>
          <a:xfrm>
            <a:off x="454519" y="6299581"/>
            <a:ext cx="11283000" cy="176100"/>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4A5568"/>
              </a:buClr>
              <a:buSzPts val="1000"/>
              <a:buFont typeface="Inter Medium"/>
              <a:buNone/>
            </a:pPr>
            <a:r>
              <a:rPr sz="1600" b="1">
                <a:solidFill>
                  <a:srgbClr val="0E2C54"/>
                </a:solidFill>
                <a:latin typeface="Aptos"/>
              </a:rPr>
              <a:t>Thank you for your submission.</a:t>
            </a:r>
            <a:endParaRPr sz="1000">
              <a:solidFill>
                <a:schemeClr val="dk1"/>
              </a:solidFill>
              <a:latin typeface="Calibri"/>
              <a:ea typeface="Calibri"/>
              <a:cs typeface="Calibri"/>
              <a:sym typeface="Calibri"/>
            </a:endParaRPr>
          </a:p>
        </p:txBody>
      </p:sp>
      <p:sp>
        <p:nvSpPr>
          <p:cNvPr id="165" name="Google Shape;165;p9"/>
          <p:cNvSpPr/>
          <p:nvPr/>
        </p:nvSpPr>
        <p:spPr>
          <a:xfrm>
            <a:off x="356682" y="6606446"/>
            <a:ext cx="11478330" cy="176014"/>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4A5568"/>
              </a:buClr>
              <a:buSzPts val="1000"/>
              <a:buFont typeface="Inter"/>
              <a:buNone/>
            </a:pPr>
            <a:r>
              <a:rPr sz="1200" b="0">
                <a:solidFill>
                  <a:srgbClr val="5A5A5A"/>
                </a:solidFill>
                <a:latin typeface="Aptos"/>
              </a:rPr>
              <a:t>TCOE India · Emerging Technologies Hackathon 2026</a:t>
            </a:r>
            <a:endParaRPr sz="1000">
              <a:solidFill>
                <a:schemeClr val="dk1"/>
              </a:solidFill>
              <a:latin typeface="Calibri"/>
              <a:ea typeface="Calibri"/>
              <a:cs typeface="Calibri"/>
              <a:sym typeface="Calibri"/>
            </a:endParaRPr>
          </a:p>
        </p:txBody>
      </p:sp>
      <p:sp>
        <p:nvSpPr>
          <p:cNvPr id="166" name="Google Shape;166;p9"/>
          <p:cNvSpPr/>
          <p:nvPr/>
        </p:nvSpPr>
        <p:spPr>
          <a:xfrm>
            <a:off x="0" y="0"/>
            <a:ext cx="76200" cy="6858000"/>
          </a:xfrm>
          <a:prstGeom prst="rect">
            <a:avLst/>
          </a:prstGeom>
          <a:solidFill>
            <a:srgbClr val="1F6F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1782968433114]">
  <a:themeElements>
    <a:clrScheme name="Office">
      <a:dk1>
        <a:srgbClr val="14213D"/>
      </a:dk1>
      <a:lt1>
        <a:srgbClr val="FFFFFF"/>
      </a:lt1>
      <a:dk2>
        <a:srgbClr val="12447A"/>
      </a:dk2>
      <a:lt2>
        <a:srgbClr val="F1F5FB"/>
      </a:lt2>
      <a:accent1>
        <a:srgbClr val="1F6FEB"/>
      </a:accent1>
      <a:accent2>
        <a:srgbClr val="12447A"/>
      </a:accent2>
      <a:accent3>
        <a:srgbClr val="4A5568"/>
      </a:accent3>
      <a:accent4>
        <a:srgbClr val="3B82F6"/>
      </a:accent4>
      <a:accent5>
        <a:srgbClr val="E8F0FE"/>
      </a:accent5>
      <a:accent6>
        <a:srgbClr val="94A3B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1782968261465]">
  <a:themeElements>
    <a:clrScheme name="Office">
      <a:dk1>
        <a:srgbClr val="14213D"/>
      </a:dk1>
      <a:lt1>
        <a:srgbClr val="FFFFFF"/>
      </a:lt1>
      <a:dk2>
        <a:srgbClr val="12447A"/>
      </a:dk2>
      <a:lt2>
        <a:srgbClr val="F1F5FB"/>
      </a:lt2>
      <a:accent1>
        <a:srgbClr val="1F6FEB"/>
      </a:accent1>
      <a:accent2>
        <a:srgbClr val="12447A"/>
      </a:accent2>
      <a:accent3>
        <a:srgbClr val="4A5568"/>
      </a:accent3>
      <a:accent4>
        <a:srgbClr val="3B82F6"/>
      </a:accent4>
      <a:accent5>
        <a:srgbClr val="E8F0FE"/>
      </a:accent5>
      <a:accent6>
        <a:srgbClr val="94A3B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1782968297881]">
  <a:themeElements>
    <a:clrScheme name="Office">
      <a:dk1>
        <a:srgbClr val="14213D"/>
      </a:dk1>
      <a:lt1>
        <a:srgbClr val="FFFFFF"/>
      </a:lt1>
      <a:dk2>
        <a:srgbClr val="12447A"/>
      </a:dk2>
      <a:lt2>
        <a:srgbClr val="F1F5FB"/>
      </a:lt2>
      <a:accent1>
        <a:srgbClr val="1F6FEB"/>
      </a:accent1>
      <a:accent2>
        <a:srgbClr val="12447A"/>
      </a:accent2>
      <a:accent3>
        <a:srgbClr val="4A5568"/>
      </a:accent3>
      <a:accent4>
        <a:srgbClr val="3B82F6"/>
      </a:accent4>
      <a:accent5>
        <a:srgbClr val="E8F0FE"/>
      </a:accent5>
      <a:accent6>
        <a:srgbClr val="94A3B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TotalTime>
  <Words>967</Words>
  <Application>Microsoft Office PowerPoint</Application>
  <PresentationFormat>Widescreen</PresentationFormat>
  <Paragraphs>83</Paragraphs>
  <Slides>9</Slides>
  <Notes>9</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9</vt:i4>
      </vt:variant>
    </vt:vector>
  </HeadingPairs>
  <TitlesOfParts>
    <vt:vector size="19" baseType="lpstr">
      <vt:lpstr>Arial</vt:lpstr>
      <vt:lpstr>Inter</vt:lpstr>
      <vt:lpstr>DM Sans SemiBold</vt:lpstr>
      <vt:lpstr>Calibri</vt:lpstr>
      <vt:lpstr>Aptos</vt:lpstr>
      <vt:lpstr>Inter Medium</vt:lpstr>
      <vt:lpstr>Office Theme [1782968433114]</vt:lpstr>
      <vt:lpstr>Office Theme</vt:lpstr>
      <vt:lpstr>Office Theme [1782968261465]</vt:lpstr>
      <vt:lpstr>Office Theme [1782968297881]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PANKAJ YADAV</dc:creator>
  <cp:lastModifiedBy>Pranav Mahesh Palled</cp:lastModifiedBy>
  <cp:revision>3</cp:revision>
  <dcterms:created xsi:type="dcterms:W3CDTF">2026-07-01T16:51:08Z</dcterms:created>
  <dcterms:modified xsi:type="dcterms:W3CDTF">2026-07-21T07:25:02Z</dcterms:modified>
</cp:coreProperties>
</file>